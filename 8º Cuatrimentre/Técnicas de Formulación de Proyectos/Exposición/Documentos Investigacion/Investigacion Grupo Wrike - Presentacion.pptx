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Buenos días/tardes. Hoy presentamos nuestra investigación sobre metodologías de formulación y evaluación de proyectos de inversión. A lo largo de esta presentación, exploraremos los enfoques tradicionales, las metodologías ágiles, y cómo combinarlos para maximizar el éxito de los proyectos. Este trabajo ha sido elaborado por nuestro equipo como parte del curso de Técnicas de Formulación de Proyectos de la Universidad Americana de Europa.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presentación está estructurada en ocho bloques. Comenzaremos planteando el problema de investigación y la importancia de seleccionar la metodología adecuada para cada tipo de proyecto. Luego revisaremos las metodologías tradicionales más utilizadas en la región, seguidas de las metodologías ágiles que han ganado terreno en los últimos años. Presentaremos una tabla comparativa detallada y exploraremos los enfoques híbridos como tendencia emergente. Finalmente, compartiremos casos concretos de aplicación en América Latina y nuestras conclusiones.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esta investigación abordamos un desafío fundamental: ¿cómo seleccionar la metodología más adecuada para formular y evaluar proyectos de inversión? Vivimos en un entorno globalizado donde la capacidad de estructurar proyectos de manera rigurosa determina en gran medida el éxito organizacional. Nuestro objetivo es proporcionar una guía práctica que ayude a profesionales y estudiantes a navegar entre los diferentes enfoques metodológicos disponibles, entendiendo sus fortalezas, limitaciones y contextos de aplicación óptimos.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PMBOK es el estándar más reconocido mundialmente para la gestión de proyectos. Su séptima edición introdujo un cambio importante: pasó de un enfoque basado en procesos a uno basado en principios, con ocho dominios de desempeño. Sin embargo, mantiene su fortaleza en la estandarización de procesos y la documentación detallada. Es ideal para proyectos grandes, de infraestructura o con requisitos regulatorios estrictos, pero puede resultar excesivo para proyectos pequeños o altamente cambiantes.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Metodología de Marco Lógico, desarrollada por USAID, es ampliamente utilizada en proyectos de cooperación internacional y desarrollo social. Su principal fortaleza es la matriz de 4 por 4 que obliga a explicitar las relaciones causales del proyecto. Cada nivel de objetivo tiene indicadores verificables, medios de verificación y supuestos. Sin embargo, su naturaleza estática dificulta la adaptación cuando el contexto cambia durante la implementación.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BID ha desarrollado su propia metodología integrando elementos del Marco Lógico con análisis económico y social riguroso. Su ciclo de cinco fases y su énfasis en la identificación de fallas de mercado la hacen particularmente útil para proyectos del sector público. La evaluación económica mediante costo-beneficio y costo-efectividad es uno de sus sellos distintivos. Es la metodología de referencia para proyectos financiados por organismos multilaterales en nuestra región.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Scrum es el marco ágil más popular y ampliamente adoptado. Nacido en el desarrollo de software, su aplicación se ha extendido a todo tipo de proyectos. La clave está en los sprints: iteraciones cortas que producen incrementos de valor verificables. Los roles están claramente definidos y las ceremonias proporcionan momentos regulares de planificación, revisión y mejora. Su principal ventaja es la capacidad de adaptarse al cambio, aunque su menor énfasis en la planificación financiera detallada puede ser una limitación para ciertos proyectos de inversión.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Kanban se originó en Toyota y se centra en la visualización del flujo de trabajo. A diferencia de Scrum, no prescribe roles ni iteraciones, lo que lo hace más ligero y flexible. El límite de trabajo en curso (WIP) es su mecanismo clave para optimizar el flujo. Es ideal para equipos de mantenimiento, soporte o proyectos con flujo continuo. A menudo se combina con Scrum (lo que se conoce como Scrumban) para aprovechar las fortalezas de ambos.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resume las diferencias clave entre metodologías tradicionales, ágiles e híbridas en siete criterios fundamentales. Como podemos observar, las metodologías tradicionales destacan en planificación detallada y control formal, mientras que las ágiles sobresalen en flexibilidad y adaptabilidad. Los enfoques híbridos buscan lo mejor de ambos mundos, combinando la gobernanza de lo tradicional con la agilidad de las metodologías iterativas. La elección depende del tipo de proyecto, el contexto organizacional y los requisitos específicos.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enfoques híbridos representan la tendencia más importante en la gestión de proyectos contemporánea. Modelos como Water-Scrum-Fall y PRINCE2-Ágil permiten combinar la rigurosidad de la planificación tradicional con la flexibilidad de la ejecución ágil. Según el PMI, más del 60% de las organizaciones ya utilizan algún tipo de enfoque híbrido. La clave está en identificar qué fases del proyecto se benefician de una planificación detallada y cuáles requieren flexibilidad iterativa.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transformación digital está revolucionando la gestión de proyectos. Herramientas como MS Project, Jira y Asana facilitan la planificación y el seguimiento. La inteligencia artificial está comenzando a transformar la estimación de costos y plazos, el análisis predictivo de riesgos y la generación automatizada de documentos. BIM ha revolucionado la construcción. Sin embargo, la adopción de estas tecnologías enfrenta desafíos importantes: calidad de datos, necesidad de capacitación y consideraciones de ciberseguridad.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América Latina ofrece ejemplos concretos de aplicación de estas metodologías. En el sector público, México implementó el Programa de Mejoramiento de Barrios con metodología del BID y Marco Lógico, beneficiando a más de medio millón de personas. Colombia documentó que proyectos de infraestructura vial que usaron PMBOK tuvieron desviaciones de costo del 8%, frente al 24% de aquellos sin metodología estructurada. En el sector privado, Nubank es el caso más emblemático: usando Scrum y Lean Startup, alcanzó una valoración superior a 30 mil millones de dólares.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Nuestra investigación concluye que no existe una metodología universalmente superior. La clave está en seleccionar y adaptar el enfoque según el tipo de proyecto y su contexto. Las metodologías tradicionales siguen siendo óptimas para proyectos de gran escala con requisitos regulatorios estrictos. Las ágiles son superiores en entornos de innovación y alta incertidumbre. Los enfoques híbridos representan la tendencia dominante y más prometedora. Recomendamos desarrollar capacidades metodológicas diversas, invertir en formación continua y medir el éxito con métricas alineadas a los objetivos estratégicos.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Muchas gracias por su atención. Esperamos que esta presentación haya sido de utilidad para comprender los diferentes enfoques metodológicos disponibles para la formulación y evaluación de proyectos de inversión. Estamos abiertos a sus preguntas y comentarios. Como equipo, hemos disfrutado mucho realizar esta investigación y esperamos que los hallazgos presentados contribuyan a una mejor toma de decisiones en la gestión de proyectos.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Rectangle 1"/>
          <p:cNvSpPr/>
          <p:nvPr/>
        </p:nvSpPr>
        <p:spPr>
          <a:xfrm>
            <a:off x="0" y="5943600"/>
            <a:ext cx="12191695" cy="914400"/>
          </a:xfrm>
          <a:prstGeom prst="rect">
            <a:avLst/>
          </a:prstGeom>
          <a:solidFill>
            <a:srgbClr val="FFB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1371600"/>
          </a:xfrm>
          <a:prstGeom prst="rect">
            <a:avLst/>
          </a:prstGeom>
          <a:noFill/>
        </p:spPr>
        <p:txBody>
          <a:bodyPr wrap="square">
            <a:spAutoFit/>
          </a:bodyPr>
          <a:lstStyle/>
          <a:p>
            <a:pPr algn="ctr">
              <a:defRPr sz="3600" b="1" i="0">
                <a:solidFill>
                  <a:srgbClr val="FFFFFF"/>
                </a:solidFill>
                <a:latin typeface="Calibri"/>
              </a:defRPr>
            </a:pPr>
            <a:r>
              <a:t>Metodologías de Formulación y Evaluación de Proyectos de Inversión</a:t>
            </a:r>
          </a:p>
        </p:txBody>
      </p:sp>
      <p:sp>
        <p:nvSpPr>
          <p:cNvPr id="4" name="TextBox 3"/>
          <p:cNvSpPr txBox="1"/>
          <p:nvPr/>
        </p:nvSpPr>
        <p:spPr>
          <a:xfrm>
            <a:off x="914400" y="2926080"/>
            <a:ext cx="10058400" cy="914400"/>
          </a:xfrm>
          <a:prstGeom prst="rect">
            <a:avLst/>
          </a:prstGeom>
          <a:noFill/>
        </p:spPr>
        <p:txBody>
          <a:bodyPr wrap="square">
            <a:spAutoFit/>
          </a:bodyPr>
          <a:lstStyle/>
          <a:p>
            <a:pPr algn="ctr">
              <a:defRPr sz="2200" b="0" i="1">
                <a:solidFill>
                  <a:srgbClr val="DCEBFA"/>
                </a:solidFill>
                <a:latin typeface="Calibri"/>
              </a:defRPr>
            </a:pPr>
            <a:r>
              <a:t>Un Análisis Comparativo de Enfoques Tradicionales y Ágiles</a:t>
            </a:r>
          </a:p>
        </p:txBody>
      </p:sp>
      <p:sp>
        <p:nvSpPr>
          <p:cNvPr id="5" name="TextBox 4"/>
          <p:cNvSpPr txBox="1"/>
          <p:nvPr/>
        </p:nvSpPr>
        <p:spPr>
          <a:xfrm>
            <a:off x="914400" y="4572000"/>
            <a:ext cx="10058400" cy="914400"/>
          </a:xfrm>
          <a:prstGeom prst="rect">
            <a:avLst/>
          </a:prstGeom>
          <a:noFill/>
        </p:spPr>
        <p:txBody>
          <a:bodyPr wrap="square">
            <a:spAutoFit/>
          </a:bodyPr>
          <a:lstStyle/>
          <a:p>
            <a:pPr algn="ctr">
              <a:defRPr sz="1400" b="0" i="0">
                <a:solidFill>
                  <a:srgbClr val="FFFFFF"/>
                </a:solidFill>
                <a:latin typeface="Calibri"/>
              </a:defRPr>
            </a:pPr>
            <a:r>
              <a:t>Alex Joan Roblero Quiros | Roberto Benavente Jimenez | Carlos Gutierrez Barrios</a:t>
            </a:r>
          </a:p>
        </p:txBody>
      </p:sp>
      <p:sp>
        <p:nvSpPr>
          <p:cNvPr id="6" name="TextBox 5"/>
          <p:cNvSpPr txBox="1"/>
          <p:nvPr/>
        </p:nvSpPr>
        <p:spPr>
          <a:xfrm>
            <a:off x="914400" y="5029200"/>
            <a:ext cx="10058400" cy="457200"/>
          </a:xfrm>
          <a:prstGeom prst="rect">
            <a:avLst/>
          </a:prstGeom>
          <a:noFill/>
        </p:spPr>
        <p:txBody>
          <a:bodyPr wrap="square">
            <a:spAutoFit/>
          </a:bodyPr>
          <a:lstStyle/>
          <a:p>
            <a:pPr algn="ctr">
              <a:defRPr sz="1400" b="0" i="0">
                <a:solidFill>
                  <a:srgbClr val="FFB90F"/>
                </a:solidFill>
                <a:latin typeface="Calibri"/>
              </a:defRPr>
            </a:pPr>
            <a:r>
              <a:t>Técnicas de Formulación de Proyectos — UNADE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3200" b="1" i="0">
                <a:solidFill>
                  <a:srgbClr val="FFFFFF"/>
                </a:solidFill>
                <a:latin typeface="Calibri"/>
              </a:defRPr>
            </a:pPr>
            <a:r>
              <a:t>Agenda</a:t>
            </a:r>
          </a:p>
        </p:txBody>
      </p:sp>
      <p:sp>
        <p:nvSpPr>
          <p:cNvPr id="4" name="TextBox 3"/>
          <p:cNvSpPr txBox="1"/>
          <p:nvPr/>
        </p:nvSpPr>
        <p:spPr>
          <a:xfrm>
            <a:off x="914400" y="1371600"/>
            <a:ext cx="10058400" cy="5029200"/>
          </a:xfrm>
          <a:prstGeom prst="rect">
            <a:avLst/>
          </a:prstGeom>
          <a:noFill/>
        </p:spPr>
        <p:txBody>
          <a:bodyPr wrap="square">
            <a:spAutoFit/>
          </a:bodyPr>
          <a:lstStyle/>
          <a:p>
            <a:pPr>
              <a:spcAft>
                <a:spcPts val="600"/>
              </a:spcAft>
              <a:defRPr sz="2000">
                <a:solidFill>
                  <a:srgbClr val="000000"/>
                </a:solidFill>
                <a:latin typeface="Calibri"/>
              </a:defRPr>
            </a:pPr>
            <a:r>
              <a:t>1. Introducción al problema de investigación</a:t>
            </a:r>
          </a:p>
          <a:p>
            <a:pPr>
              <a:spcAft>
                <a:spcPts val="600"/>
              </a:spcAft>
              <a:defRPr sz="2000">
                <a:solidFill>
                  <a:srgbClr val="000000"/>
                </a:solidFill>
                <a:latin typeface="Calibri"/>
              </a:defRPr>
            </a:pPr>
            <a:r>
              <a:t>2. Metodologías tradicionales: PMBOK, Marco Lógico, BID</a:t>
            </a:r>
          </a:p>
          <a:p>
            <a:pPr>
              <a:spcAft>
                <a:spcPts val="600"/>
              </a:spcAft>
              <a:defRPr sz="2000">
                <a:solidFill>
                  <a:srgbClr val="000000"/>
                </a:solidFill>
                <a:latin typeface="Calibri"/>
              </a:defRPr>
            </a:pPr>
            <a:r>
              <a:t>3. Metodologías ágiles: Scrum, Kanban, Lean</a:t>
            </a:r>
          </a:p>
          <a:p>
            <a:pPr>
              <a:spcAft>
                <a:spcPts val="600"/>
              </a:spcAft>
              <a:defRPr sz="2000">
                <a:solidFill>
                  <a:srgbClr val="000000"/>
                </a:solidFill>
                <a:latin typeface="Calibri"/>
              </a:defRPr>
            </a:pPr>
            <a:r>
              <a:t>4. Análisis comparativo y tabla de criterios</a:t>
            </a:r>
          </a:p>
          <a:p>
            <a:pPr>
              <a:spcAft>
                <a:spcPts val="600"/>
              </a:spcAft>
              <a:defRPr sz="2000">
                <a:solidFill>
                  <a:srgbClr val="000000"/>
                </a:solidFill>
                <a:latin typeface="Calibri"/>
              </a:defRPr>
            </a:pPr>
            <a:r>
              <a:t>5. Enfoques híbridos y tendencias emergentes</a:t>
            </a:r>
          </a:p>
          <a:p>
            <a:pPr>
              <a:spcAft>
                <a:spcPts val="600"/>
              </a:spcAft>
              <a:defRPr sz="2000">
                <a:solidFill>
                  <a:srgbClr val="000000"/>
                </a:solidFill>
                <a:latin typeface="Calibri"/>
              </a:defRPr>
            </a:pPr>
            <a:r>
              <a:t>6. Casos de aplicación en América Latina</a:t>
            </a:r>
          </a:p>
          <a:p>
            <a:pPr>
              <a:spcAft>
                <a:spcPts val="600"/>
              </a:spcAft>
              <a:defRPr sz="2000">
                <a:solidFill>
                  <a:srgbClr val="000000"/>
                </a:solidFill>
                <a:latin typeface="Calibri"/>
              </a:defRPr>
            </a:pPr>
            <a:r>
              <a:t>7. Conclusiones y recomendaciones</a:t>
            </a:r>
          </a:p>
          <a:p>
            <a:pPr>
              <a:spcAft>
                <a:spcPts val="600"/>
              </a:spcAft>
              <a:defRPr sz="2000">
                <a:solidFill>
                  <a:srgbClr val="000000"/>
                </a:solidFill>
                <a:latin typeface="Calibri"/>
              </a:defRPr>
            </a:pPr>
            <a:r>
              <a:t>8. Preguntas y discusión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3200" b="1" i="0">
                <a:solidFill>
                  <a:srgbClr val="FFFFFF"/>
                </a:solidFill>
                <a:latin typeface="Calibri"/>
              </a:defRPr>
            </a:pPr>
            <a:r>
              <a:t>Introducción</a:t>
            </a:r>
          </a:p>
        </p:txBody>
      </p:sp>
      <p:sp>
        <p:nvSpPr>
          <p:cNvPr id="4" name="TextBox 3"/>
          <p:cNvSpPr txBox="1"/>
          <p:nvPr/>
        </p:nvSpPr>
        <p:spPr>
          <a:xfrm>
            <a:off x="914400" y="1371600"/>
            <a:ext cx="10058400" cy="914400"/>
          </a:xfrm>
          <a:prstGeom prst="rect">
            <a:avLst/>
          </a:prstGeom>
          <a:noFill/>
        </p:spPr>
        <p:txBody>
          <a:bodyPr wrap="square">
            <a:spAutoFit/>
          </a:bodyPr>
          <a:lstStyle/>
          <a:p>
            <a:pPr algn="l">
              <a:defRPr sz="2400" b="1" i="0">
                <a:solidFill>
                  <a:srgbClr val="0066B2"/>
                </a:solidFill>
                <a:latin typeface="Calibri"/>
              </a:defRPr>
            </a:pPr>
            <a:r>
              <a:t>El desafío de formular proyectos en entornos complejos</a:t>
            </a:r>
          </a:p>
        </p:txBody>
      </p:sp>
      <p:sp>
        <p:nvSpPr>
          <p:cNvPr id="5" name="TextBox 4"/>
          <p:cNvSpPr txBox="1"/>
          <p:nvPr/>
        </p:nvSpPr>
        <p:spPr>
          <a:xfrm>
            <a:off x="914400" y="2560320"/>
            <a:ext cx="10058400" cy="3657600"/>
          </a:xfrm>
          <a:prstGeom prst="rect">
            <a:avLst/>
          </a:prstGeom>
          <a:noFill/>
        </p:spPr>
        <p:txBody>
          <a:bodyPr wrap="square">
            <a:spAutoFit/>
          </a:bodyPr>
          <a:lstStyle/>
          <a:p>
            <a:pPr>
              <a:spcAft>
                <a:spcPts val="600"/>
              </a:spcAft>
              <a:defRPr sz="1800">
                <a:solidFill>
                  <a:srgbClr val="000000"/>
                </a:solidFill>
                <a:latin typeface="Calibri"/>
              </a:defRPr>
            </a:pPr>
            <a:r>
              <a:t>La formulación de proyectos es un pilar estratégico para las organizaciones</a:t>
            </a:r>
          </a:p>
          <a:p>
            <a:pPr>
              <a:spcAft>
                <a:spcPts val="600"/>
              </a:spcAft>
              <a:defRPr sz="1800">
                <a:solidFill>
                  <a:srgbClr val="000000"/>
                </a:solidFill>
                <a:latin typeface="Calibri"/>
              </a:defRPr>
            </a:pPr>
            <a:r>
              <a:t>Entorno globalizado y competitivo exige rigor metodológico</a:t>
            </a:r>
          </a:p>
          <a:p>
            <a:pPr>
              <a:spcAft>
                <a:spcPts val="600"/>
              </a:spcAft>
              <a:defRPr sz="1800">
                <a:solidFill>
                  <a:srgbClr val="000000"/>
                </a:solidFill>
                <a:latin typeface="Calibri"/>
              </a:defRPr>
            </a:pPr>
            <a:r>
              <a:t>¿Cómo seleccionar la metodología adecuada?</a:t>
            </a:r>
          </a:p>
          <a:p>
            <a:pPr>
              <a:spcAft>
                <a:spcPts val="600"/>
              </a:spcAft>
              <a:defRPr sz="1800">
                <a:solidFill>
                  <a:srgbClr val="000000"/>
                </a:solidFill>
                <a:latin typeface="Calibri"/>
              </a:defRPr>
            </a:pPr>
            <a:r>
              <a:t>Objetivo: Analizar y comparar enfoques tradicionales vs. ágiles</a:t>
            </a:r>
          </a:p>
          <a:p>
            <a:pPr>
              <a:spcAft>
                <a:spcPts val="600"/>
              </a:spcAft>
              <a:defRPr sz="1800">
                <a:solidFill>
                  <a:srgbClr val="000000"/>
                </a:solidFill>
                <a:latin typeface="Calibri"/>
              </a:defRPr>
            </a:pPr>
            <a:r>
              <a:t>Alcance: Proyectos de inversión en sectores productivos, infraestructura, tecnología y desarrollo social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3000" b="1" i="0">
                <a:solidFill>
                  <a:srgbClr val="FFFFFF"/>
                </a:solidFill>
                <a:latin typeface="Calibri"/>
              </a:defRPr>
            </a:pPr>
            <a:r>
              <a:t>PMBOK — Project Management Body of Knowledge</a:t>
            </a:r>
          </a:p>
        </p:txBody>
      </p:sp>
      <p:sp>
        <p:nvSpPr>
          <p:cNvPr id="4" name="TextBox 3"/>
          <p:cNvSpPr txBox="1"/>
          <p:nvPr/>
        </p:nvSpPr>
        <p:spPr>
          <a:xfrm>
            <a:off x="914400" y="1371600"/>
            <a:ext cx="10058400" cy="4572000"/>
          </a:xfrm>
          <a:prstGeom prst="rect">
            <a:avLst/>
          </a:prstGeom>
          <a:noFill/>
        </p:spPr>
        <p:txBody>
          <a:bodyPr wrap="square">
            <a:spAutoFit/>
          </a:bodyPr>
          <a:lstStyle/>
          <a:p>
            <a:pPr>
              <a:spcAft>
                <a:spcPts val="600"/>
              </a:spcAft>
              <a:defRPr sz="1800">
                <a:solidFill>
                  <a:srgbClr val="000000"/>
                </a:solidFill>
                <a:latin typeface="Calibri"/>
              </a:defRPr>
            </a:pPr>
            <a:r>
              <a:t>Desarrollado por el Project Management Institute (PMI)</a:t>
            </a:r>
          </a:p>
          <a:p>
            <a:pPr>
              <a:spcAft>
                <a:spcPts val="600"/>
              </a:spcAft>
              <a:defRPr sz="1800">
                <a:solidFill>
                  <a:srgbClr val="000000"/>
                </a:solidFill>
                <a:latin typeface="Calibri"/>
              </a:defRPr>
            </a:pPr>
            <a:r>
              <a:t>Estándar global más reconocido para gestión de proyectos</a:t>
            </a:r>
          </a:p>
          <a:p>
            <a:pPr>
              <a:spcAft>
                <a:spcPts val="600"/>
              </a:spcAft>
              <a:defRPr sz="1800">
                <a:solidFill>
                  <a:srgbClr val="000000"/>
                </a:solidFill>
                <a:latin typeface="Calibri"/>
              </a:defRPr>
            </a:pPr>
            <a:r>
              <a:t>7ª edición (2021): 12 principios + 8 dominios de desempeño</a:t>
            </a:r>
          </a:p>
          <a:p>
            <a:pPr>
              <a:spcAft>
                <a:spcPts val="600"/>
              </a:spcAft>
              <a:defRPr sz="1800">
                <a:solidFill>
                  <a:srgbClr val="000000"/>
                </a:solidFill>
                <a:latin typeface="Calibri"/>
              </a:defRPr>
            </a:pPr>
            <a:r>
              <a:t>5 grupos de procesos: inicio, planificación, ejecución, monitoreo, cierre</a:t>
            </a:r>
          </a:p>
          <a:p>
            <a:pPr>
              <a:spcAft>
                <a:spcPts val="600"/>
              </a:spcAft>
              <a:defRPr sz="1800">
                <a:solidFill>
                  <a:srgbClr val="000000"/>
                </a:solidFill>
                <a:latin typeface="Calibri"/>
              </a:defRPr>
            </a:pPr>
            <a:r>
              <a:t>10 áreas de conocimiento especializadas</a:t>
            </a:r>
          </a:p>
          <a:p>
            <a:pPr>
              <a:spcAft>
                <a:spcPts val="600"/>
              </a:spcAft>
              <a:defRPr sz="1800">
                <a:solidFill>
                  <a:srgbClr val="000000"/>
                </a:solidFill>
                <a:latin typeface="Calibri"/>
              </a:defRPr>
            </a:pPr>
            <a:r>
              <a:t>Ventajas: Estandarización, escalabilidad, documentación exhaustiva</a:t>
            </a:r>
          </a:p>
          <a:p>
            <a:pPr>
              <a:spcAft>
                <a:spcPts val="600"/>
              </a:spcAft>
              <a:defRPr sz="1800">
                <a:solidFill>
                  <a:srgbClr val="000000"/>
                </a:solidFill>
                <a:latin typeface="Calibri"/>
              </a:defRPr>
            </a:pPr>
            <a:r>
              <a:t>Limitaciones: Rigidez en entornos cambiantes, sobrecarga administrativa</a:t>
            </a:r>
          </a:p>
        </p:txBody>
      </p:sp>
      <p:sp>
        <p:nvSpPr>
          <p:cNvPr id="5" name="Rectangle 4"/>
          <p:cNvSpPr/>
          <p:nvPr/>
        </p:nvSpPr>
        <p:spPr>
          <a:xfrm>
            <a:off x="457200" y="5669280"/>
            <a:ext cx="11247120" cy="45720"/>
          </a:xfrm>
          <a:prstGeom prst="rect">
            <a:avLst/>
          </a:prstGeom>
          <a:solidFill>
            <a:srgbClr val="FFB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3000" b="1" i="0">
                <a:solidFill>
                  <a:srgbClr val="FFFFFF"/>
                </a:solidFill>
                <a:latin typeface="Calibri"/>
              </a:defRPr>
            </a:pPr>
            <a:r>
              <a:t>Metodología de Marco Lógico (MML)</a:t>
            </a:r>
          </a:p>
        </p:txBody>
      </p:sp>
      <p:sp>
        <p:nvSpPr>
          <p:cNvPr id="4" name="TextBox 3"/>
          <p:cNvSpPr txBox="1"/>
          <p:nvPr/>
        </p:nvSpPr>
        <p:spPr>
          <a:xfrm>
            <a:off x="914400" y="1371600"/>
            <a:ext cx="10058400" cy="4572000"/>
          </a:xfrm>
          <a:prstGeom prst="rect">
            <a:avLst/>
          </a:prstGeom>
          <a:noFill/>
        </p:spPr>
        <p:txBody>
          <a:bodyPr wrap="square">
            <a:spAutoFit/>
          </a:bodyPr>
          <a:lstStyle/>
          <a:p>
            <a:pPr>
              <a:spcAft>
                <a:spcPts val="600"/>
              </a:spcAft>
              <a:defRPr sz="1800">
                <a:solidFill>
                  <a:srgbClr val="000000"/>
                </a:solidFill>
                <a:latin typeface="Calibri"/>
              </a:defRPr>
            </a:pPr>
            <a:r>
              <a:t>Creada por USAID en los 70; adoptada por bancos de desarrollo y ONGs</a:t>
            </a:r>
          </a:p>
          <a:p>
            <a:pPr>
              <a:spcAft>
                <a:spcPts val="600"/>
              </a:spcAft>
              <a:defRPr sz="1800">
                <a:solidFill>
                  <a:srgbClr val="000000"/>
                </a:solidFill>
                <a:latin typeface="Calibri"/>
              </a:defRPr>
            </a:pPr>
            <a:r>
              <a:t>Matriz 4×4: Objetivo general, específico, resultados, actividades</a:t>
            </a:r>
          </a:p>
          <a:p>
            <a:pPr>
              <a:spcAft>
                <a:spcPts val="600"/>
              </a:spcAft>
              <a:defRPr sz="1800">
                <a:solidFill>
                  <a:srgbClr val="000000"/>
                </a:solidFill>
                <a:latin typeface="Calibri"/>
              </a:defRPr>
            </a:pPr>
            <a:r>
              <a:t>Columnas: Resumen narrativo, indicadores, medios de verificación, supuestos</a:t>
            </a:r>
          </a:p>
          <a:p>
            <a:pPr>
              <a:spcAft>
                <a:spcPts val="600"/>
              </a:spcAft>
              <a:defRPr sz="1800">
                <a:solidFill>
                  <a:srgbClr val="000000"/>
                </a:solidFill>
                <a:latin typeface="Calibri"/>
              </a:defRPr>
            </a:pPr>
            <a:r>
              <a:t>Ideal para proyectos de desarrollo social y cooperación internacional</a:t>
            </a:r>
          </a:p>
          <a:p>
            <a:pPr>
              <a:spcAft>
                <a:spcPts val="600"/>
              </a:spcAft>
              <a:defRPr sz="1800">
                <a:solidFill>
                  <a:srgbClr val="000000"/>
                </a:solidFill>
                <a:latin typeface="Calibri"/>
              </a:defRPr>
            </a:pPr>
            <a:r>
              <a:t>Ventajas: Claridad causal, indicadores medibles, participación de interesados</a:t>
            </a:r>
          </a:p>
          <a:p>
            <a:pPr>
              <a:spcAft>
                <a:spcPts val="600"/>
              </a:spcAft>
              <a:defRPr sz="1800">
                <a:solidFill>
                  <a:srgbClr val="000000"/>
                </a:solidFill>
                <a:latin typeface="Calibri"/>
              </a:defRPr>
            </a:pPr>
            <a:r>
              <a:t>Limitaciones: Estructura estática, difícil adaptación a cambios, simplificación de relaciones complejas</a:t>
            </a:r>
          </a:p>
        </p:txBody>
      </p:sp>
      <p:sp>
        <p:nvSpPr>
          <p:cNvPr id="5" name="Rectangle 4"/>
          <p:cNvSpPr/>
          <p:nvPr/>
        </p:nvSpPr>
        <p:spPr>
          <a:xfrm>
            <a:off x="457200" y="5669280"/>
            <a:ext cx="11247120" cy="45720"/>
          </a:xfrm>
          <a:prstGeom prst="rect">
            <a:avLst/>
          </a:prstGeom>
          <a:solidFill>
            <a:srgbClr val="FFB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3000" b="1" i="0">
                <a:solidFill>
                  <a:srgbClr val="FFFFFF"/>
                </a:solidFill>
                <a:latin typeface="Calibri"/>
              </a:defRPr>
            </a:pPr>
            <a:r>
              <a:t>Metodología del Banco Interamericano de Desarrollo</a:t>
            </a:r>
          </a:p>
        </p:txBody>
      </p:sp>
      <p:sp>
        <p:nvSpPr>
          <p:cNvPr id="4" name="TextBox 3"/>
          <p:cNvSpPr txBox="1"/>
          <p:nvPr/>
        </p:nvSpPr>
        <p:spPr>
          <a:xfrm>
            <a:off x="914400" y="1371600"/>
            <a:ext cx="10058400" cy="4572000"/>
          </a:xfrm>
          <a:prstGeom prst="rect">
            <a:avLst/>
          </a:prstGeom>
          <a:noFill/>
        </p:spPr>
        <p:txBody>
          <a:bodyPr wrap="square">
            <a:spAutoFit/>
          </a:bodyPr>
          <a:lstStyle/>
          <a:p>
            <a:pPr>
              <a:spcAft>
                <a:spcPts val="600"/>
              </a:spcAft>
              <a:defRPr sz="1800">
                <a:solidFill>
                  <a:srgbClr val="000000"/>
                </a:solidFill>
                <a:latin typeface="Calibri"/>
              </a:defRPr>
            </a:pPr>
            <a:r>
              <a:t>Marco integrado: Marco Lógico + análisis económico y social</a:t>
            </a:r>
          </a:p>
          <a:p>
            <a:pPr>
              <a:spcAft>
                <a:spcPts val="600"/>
              </a:spcAft>
              <a:defRPr sz="1800">
                <a:solidFill>
                  <a:srgbClr val="000000"/>
                </a:solidFill>
                <a:latin typeface="Calibri"/>
              </a:defRPr>
            </a:pPr>
            <a:r>
              <a:t>Énfasis en identificación de fallas de mercado</a:t>
            </a:r>
          </a:p>
          <a:p>
            <a:pPr>
              <a:spcAft>
                <a:spcPts val="600"/>
              </a:spcAft>
              <a:defRPr sz="1800">
                <a:solidFill>
                  <a:srgbClr val="000000"/>
                </a:solidFill>
                <a:latin typeface="Calibri"/>
              </a:defRPr>
            </a:pPr>
            <a:r>
              <a:t>5 fases: programación, identificación, evaluación, ejecución, evaluación ex post</a:t>
            </a:r>
          </a:p>
          <a:p>
            <a:pPr>
              <a:spcAft>
                <a:spcPts val="600"/>
              </a:spcAft>
              <a:defRPr sz="1800">
                <a:solidFill>
                  <a:srgbClr val="000000"/>
                </a:solidFill>
                <a:latin typeface="Calibri"/>
              </a:defRPr>
            </a:pPr>
            <a:r>
              <a:t>Evaluación económica: costo-beneficio y costo-efectividad</a:t>
            </a:r>
          </a:p>
          <a:p>
            <a:pPr>
              <a:spcAft>
                <a:spcPts val="600"/>
              </a:spcAft>
              <a:defRPr sz="1800">
                <a:solidFill>
                  <a:srgbClr val="000000"/>
                </a:solidFill>
                <a:latin typeface="Calibri"/>
              </a:defRPr>
            </a:pPr>
            <a:r>
              <a:t>Gestión de riesgos fiscales y operacionales</a:t>
            </a:r>
          </a:p>
          <a:p>
            <a:pPr>
              <a:spcAft>
                <a:spcPts val="600"/>
              </a:spcAft>
              <a:defRPr sz="1800">
                <a:solidFill>
                  <a:srgbClr val="000000"/>
                </a:solidFill>
                <a:latin typeface="Calibri"/>
              </a:defRPr>
            </a:pPr>
            <a:r>
              <a:t>Ampliamente adoptada en América Latina y el Caribe</a:t>
            </a:r>
          </a:p>
          <a:p>
            <a:pPr>
              <a:spcAft>
                <a:spcPts val="600"/>
              </a:spcAft>
              <a:defRPr sz="1800">
                <a:solidFill>
                  <a:srgbClr val="000000"/>
                </a:solidFill>
                <a:latin typeface="Calibri"/>
              </a:defRPr>
            </a:pPr>
            <a:r>
              <a:t>Ideal para proyectos financiados por banca multilateral</a:t>
            </a:r>
          </a:p>
        </p:txBody>
      </p:sp>
      <p:sp>
        <p:nvSpPr>
          <p:cNvPr id="5" name="Rectangle 4"/>
          <p:cNvSpPr/>
          <p:nvPr/>
        </p:nvSpPr>
        <p:spPr>
          <a:xfrm>
            <a:off x="457200" y="5669280"/>
            <a:ext cx="11247120" cy="45720"/>
          </a:xfrm>
          <a:prstGeom prst="rect">
            <a:avLst/>
          </a:prstGeom>
          <a:solidFill>
            <a:srgbClr val="FFB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3000" b="1" i="0">
                <a:solidFill>
                  <a:srgbClr val="FFFFFF"/>
                </a:solidFill>
                <a:latin typeface="Calibri"/>
              </a:defRPr>
            </a:pPr>
            <a:r>
              <a:t>Scrum — Gestión Ágil de Proyectos</a:t>
            </a:r>
          </a:p>
        </p:txBody>
      </p:sp>
      <p:sp>
        <p:nvSpPr>
          <p:cNvPr id="4" name="TextBox 3"/>
          <p:cNvSpPr txBox="1"/>
          <p:nvPr/>
        </p:nvSpPr>
        <p:spPr>
          <a:xfrm>
            <a:off x="914400" y="1371600"/>
            <a:ext cx="10058400" cy="4572000"/>
          </a:xfrm>
          <a:prstGeom prst="rect">
            <a:avLst/>
          </a:prstGeom>
          <a:noFill/>
        </p:spPr>
        <p:txBody>
          <a:bodyPr wrap="square">
            <a:spAutoFit/>
          </a:bodyPr>
          <a:lstStyle/>
          <a:p>
            <a:pPr>
              <a:spcAft>
                <a:spcPts val="600"/>
              </a:spcAft>
              <a:defRPr sz="1800">
                <a:solidFill>
                  <a:srgbClr val="000000"/>
                </a:solidFill>
                <a:latin typeface="Calibri"/>
              </a:defRPr>
            </a:pPr>
            <a:r>
              <a:t>Basado en el Manifiesto Ágil (2001): individuos, colaboración, respuesta al cambio</a:t>
            </a:r>
          </a:p>
          <a:p>
            <a:pPr>
              <a:spcAft>
                <a:spcPts val="600"/>
              </a:spcAft>
              <a:defRPr sz="1800">
                <a:solidFill>
                  <a:srgbClr val="000000"/>
                </a:solidFill>
                <a:latin typeface="Calibri"/>
              </a:defRPr>
            </a:pPr>
            <a:r>
              <a:t>Sprints: iteraciones de 1 a 4 semanas</a:t>
            </a:r>
          </a:p>
          <a:p>
            <a:pPr>
              <a:spcAft>
                <a:spcPts val="600"/>
              </a:spcAft>
              <a:defRPr sz="1800">
                <a:solidFill>
                  <a:srgbClr val="000000"/>
                </a:solidFill>
                <a:latin typeface="Calibri"/>
              </a:defRPr>
            </a:pPr>
            <a:r>
              <a:t>Roles: Product Owner, Scrum Master, Equipo de Desarrollo</a:t>
            </a:r>
          </a:p>
          <a:p>
            <a:pPr>
              <a:spcAft>
                <a:spcPts val="600"/>
              </a:spcAft>
              <a:defRPr sz="1800">
                <a:solidFill>
                  <a:srgbClr val="000000"/>
                </a:solidFill>
                <a:latin typeface="Calibri"/>
              </a:defRPr>
            </a:pPr>
            <a:r>
              <a:t>Ceremonias: Sprint Planning, Daily Standup, Sprint Review, Retrospective</a:t>
            </a:r>
          </a:p>
          <a:p>
            <a:pPr>
              <a:spcAft>
                <a:spcPts val="600"/>
              </a:spcAft>
              <a:defRPr sz="1800">
                <a:solidFill>
                  <a:srgbClr val="000000"/>
                </a:solidFill>
                <a:latin typeface="Calibri"/>
              </a:defRPr>
            </a:pPr>
            <a:r>
              <a:t>Ideal para innovación, software, emprendimiento, I+D</a:t>
            </a:r>
          </a:p>
          <a:p>
            <a:pPr>
              <a:spcAft>
                <a:spcPts val="600"/>
              </a:spcAft>
              <a:defRPr sz="1800">
                <a:solidFill>
                  <a:srgbClr val="000000"/>
                </a:solidFill>
                <a:latin typeface="Calibri"/>
              </a:defRPr>
            </a:pPr>
            <a:r>
              <a:t>Ventajas: Adaptabilidad, retroalimentación continua, entregas incrementales de valor</a:t>
            </a:r>
          </a:p>
          <a:p>
            <a:pPr>
              <a:spcAft>
                <a:spcPts val="600"/>
              </a:spcAft>
              <a:defRPr sz="1800">
                <a:solidFill>
                  <a:srgbClr val="000000"/>
                </a:solidFill>
                <a:latin typeface="Calibri"/>
              </a:defRPr>
            </a:pPr>
            <a:r>
              <a:t>Desafíos: Menor énfasis en planificación financiera detallada</a:t>
            </a:r>
          </a:p>
        </p:txBody>
      </p:sp>
      <p:sp>
        <p:nvSpPr>
          <p:cNvPr id="5" name="Rectangle 4"/>
          <p:cNvSpPr/>
          <p:nvPr/>
        </p:nvSpPr>
        <p:spPr>
          <a:xfrm>
            <a:off x="457200" y="5669280"/>
            <a:ext cx="11247120" cy="45720"/>
          </a:xfrm>
          <a:prstGeom prst="rect">
            <a:avLst/>
          </a:prstGeom>
          <a:solidFill>
            <a:srgbClr val="FFB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3000" b="1" i="0">
                <a:solidFill>
                  <a:srgbClr val="FFFFFF"/>
                </a:solidFill>
                <a:latin typeface="Calibri"/>
              </a:defRPr>
            </a:pPr>
            <a:r>
              <a:t>Kanban — Gestión Visual del Flujo de Trabajo</a:t>
            </a:r>
          </a:p>
        </p:txBody>
      </p:sp>
      <p:sp>
        <p:nvSpPr>
          <p:cNvPr id="4" name="TextBox 3"/>
          <p:cNvSpPr txBox="1"/>
          <p:nvPr/>
        </p:nvSpPr>
        <p:spPr>
          <a:xfrm>
            <a:off x="914400" y="1371600"/>
            <a:ext cx="10058400" cy="4572000"/>
          </a:xfrm>
          <a:prstGeom prst="rect">
            <a:avLst/>
          </a:prstGeom>
          <a:noFill/>
        </p:spPr>
        <p:txBody>
          <a:bodyPr wrap="square">
            <a:spAutoFit/>
          </a:bodyPr>
          <a:lstStyle/>
          <a:p>
            <a:pPr>
              <a:spcAft>
                <a:spcPts val="600"/>
              </a:spcAft>
              <a:defRPr sz="1800">
                <a:solidFill>
                  <a:srgbClr val="000000"/>
                </a:solidFill>
                <a:latin typeface="Calibri"/>
              </a:defRPr>
            </a:pPr>
            <a:r>
              <a:t>Origen: Sistema de producción de Toyota</a:t>
            </a:r>
          </a:p>
          <a:p>
            <a:pPr>
              <a:spcAft>
                <a:spcPts val="600"/>
              </a:spcAft>
              <a:defRPr sz="1800">
                <a:solidFill>
                  <a:srgbClr val="000000"/>
                </a:solidFill>
                <a:latin typeface="Calibri"/>
              </a:defRPr>
            </a:pPr>
            <a:r>
              <a:t>Principios: Visualizar el trabajo, limitar WIP, gestionar el flujo</a:t>
            </a:r>
          </a:p>
          <a:p>
            <a:pPr>
              <a:spcAft>
                <a:spcPts val="600"/>
              </a:spcAft>
              <a:defRPr sz="1800">
                <a:solidFill>
                  <a:srgbClr val="000000"/>
                </a:solidFill>
                <a:latin typeface="Calibri"/>
              </a:defRPr>
            </a:pPr>
            <a:r>
              <a:t>Tablero: Pendiente → En Progreso → Completado</a:t>
            </a:r>
          </a:p>
          <a:p>
            <a:pPr>
              <a:spcAft>
                <a:spcPts val="600"/>
              </a:spcAft>
              <a:defRPr sz="1800">
                <a:solidFill>
                  <a:srgbClr val="000000"/>
                </a:solidFill>
                <a:latin typeface="Calibri"/>
              </a:defRPr>
            </a:pPr>
            <a:r>
              <a:t>Sin roles prescritos ni iteraciones fijas</a:t>
            </a:r>
          </a:p>
          <a:p>
            <a:pPr>
              <a:spcAft>
                <a:spcPts val="600"/>
              </a:spcAft>
              <a:defRPr sz="1800">
                <a:solidFill>
                  <a:srgbClr val="000000"/>
                </a:solidFill>
                <a:latin typeface="Calibri"/>
              </a:defRPr>
            </a:pPr>
            <a:r>
              <a:t>Ideal para operaciones continuas, mantenimiento, soporte</a:t>
            </a:r>
          </a:p>
          <a:p>
            <a:pPr>
              <a:spcAft>
                <a:spcPts val="600"/>
              </a:spcAft>
              <a:defRPr sz="1800">
                <a:solidFill>
                  <a:srgbClr val="000000"/>
                </a:solidFill>
                <a:latin typeface="Calibri"/>
              </a:defRPr>
            </a:pPr>
            <a:r>
              <a:t>Ventajas: Flexibilidad máxima, reducción de cuellos de botella</a:t>
            </a:r>
          </a:p>
          <a:p>
            <a:pPr>
              <a:spcAft>
                <a:spcPts val="600"/>
              </a:spcAft>
              <a:defRPr sz="1800">
                <a:solidFill>
                  <a:srgbClr val="000000"/>
                </a:solidFill>
                <a:latin typeface="Calibri"/>
              </a:defRPr>
            </a:pPr>
            <a:r>
              <a:t>Complementario a Scrum para equipos que necesitan agilidad sin estructura rígida</a:t>
            </a:r>
          </a:p>
        </p:txBody>
      </p:sp>
      <p:sp>
        <p:nvSpPr>
          <p:cNvPr id="5" name="Rectangle 4"/>
          <p:cNvSpPr/>
          <p:nvPr/>
        </p:nvSpPr>
        <p:spPr>
          <a:xfrm>
            <a:off x="457200" y="5669280"/>
            <a:ext cx="11247120" cy="45720"/>
          </a:xfrm>
          <a:prstGeom prst="rect">
            <a:avLst/>
          </a:prstGeom>
          <a:solidFill>
            <a:srgbClr val="FFB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3000" b="1" i="0">
                <a:solidFill>
                  <a:srgbClr val="FFFFFF"/>
                </a:solidFill>
                <a:latin typeface="Calibri"/>
              </a:defRPr>
            </a:pPr>
            <a:r>
              <a:t>Análisis Comparativo de Metodologías</a:t>
            </a:r>
          </a:p>
        </p:txBody>
      </p:sp>
      <p:sp>
        <p:nvSpPr>
          <p:cNvPr id="4" name="TextBox 3"/>
          <p:cNvSpPr txBox="1"/>
          <p:nvPr/>
        </p:nvSpPr>
        <p:spPr>
          <a:xfrm>
            <a:off x="457200" y="1280160"/>
            <a:ext cx="10972800" cy="457200"/>
          </a:xfrm>
          <a:prstGeom prst="rect">
            <a:avLst/>
          </a:prstGeom>
          <a:noFill/>
        </p:spPr>
        <p:txBody>
          <a:bodyPr wrap="square">
            <a:spAutoFit/>
          </a:bodyPr>
          <a:lstStyle/>
          <a:p>
            <a:pPr algn="l">
              <a:defRPr sz="2000" b="1" i="0">
                <a:solidFill>
                  <a:srgbClr val="0066B2"/>
                </a:solidFill>
                <a:latin typeface="Calibri"/>
              </a:defRPr>
            </a:pPr>
            <a:r>
              <a:t>¿Cuál metodología elegir según el tipo de proyecto?</a:t>
            </a:r>
          </a:p>
        </p:txBody>
      </p:sp>
      <p:graphicFrame>
        <p:nvGraphicFramePr>
          <p:cNvPr id="5" name="Table 4"/>
          <p:cNvGraphicFramePr>
            <a:graphicFrameLocks noGrp="1"/>
          </p:cNvGraphicFramePr>
          <p:nvPr/>
        </p:nvGraphicFramePr>
        <p:xfrm>
          <a:off x="457200" y="1828800"/>
          <a:ext cx="11247120" cy="4114800"/>
        </p:xfrm>
        <a:graphic>
          <a:graphicData uri="http://schemas.openxmlformats.org/drawingml/2006/table">
            <a:tbl>
              <a:tblPr firstRow="1" bandRow="1">
                <a:tableStyleId>{5C22544A-7EE6-4342-B048-85BDC9FD1C3A}</a:tableStyleId>
              </a:tblPr>
              <a:tblGrid>
                <a:gridCol w="2811780"/>
                <a:gridCol w="2811780"/>
                <a:gridCol w="2811780"/>
                <a:gridCol w="2811780"/>
              </a:tblGrid>
              <a:tr h="514350">
                <a:tc>
                  <a:txBody>
                    <a:bodyPr/>
                    <a:lstStyle/>
                    <a:p>
                      <a:pPr algn="ctr">
                        <a:defRPr sz="1400" b="1">
                          <a:solidFill>
                            <a:srgbClr val="FFFFFF"/>
                          </a:solidFill>
                          <a:latin typeface="Calibri"/>
                        </a:defRPr>
                      </a:pPr>
                      <a:r>
                        <a:t>Criterio</a:t>
                      </a:r>
                    </a:p>
                  </a:txBody>
                  <a:tcPr>
                    <a:solidFill>
                      <a:srgbClr val="003366"/>
                    </a:solidFill>
                  </a:tcPr>
                </a:tc>
                <a:tc>
                  <a:txBody>
                    <a:bodyPr/>
                    <a:lstStyle/>
                    <a:p>
                      <a:pPr algn="ctr">
                        <a:defRPr sz="1400" b="1">
                          <a:solidFill>
                            <a:srgbClr val="FFFFFF"/>
                          </a:solidFill>
                          <a:latin typeface="Calibri"/>
                        </a:defRPr>
                      </a:pPr>
                      <a:r>
                        <a:t>Tradicionales</a:t>
                      </a:r>
                    </a:p>
                  </a:txBody>
                  <a:tcPr>
                    <a:solidFill>
                      <a:srgbClr val="003366"/>
                    </a:solidFill>
                  </a:tcPr>
                </a:tc>
                <a:tc>
                  <a:txBody>
                    <a:bodyPr/>
                    <a:lstStyle/>
                    <a:p>
                      <a:pPr algn="ctr">
                        <a:defRPr sz="1400" b="1">
                          <a:solidFill>
                            <a:srgbClr val="FFFFFF"/>
                          </a:solidFill>
                          <a:latin typeface="Calibri"/>
                        </a:defRPr>
                      </a:pPr>
                      <a:r>
                        <a:t>Ágiles</a:t>
                      </a:r>
                    </a:p>
                  </a:txBody>
                  <a:tcPr>
                    <a:solidFill>
                      <a:srgbClr val="003366"/>
                    </a:solidFill>
                  </a:tcPr>
                </a:tc>
                <a:tc>
                  <a:txBody>
                    <a:bodyPr/>
                    <a:lstStyle/>
                    <a:p>
                      <a:pPr algn="ctr">
                        <a:defRPr sz="1400" b="1">
                          <a:solidFill>
                            <a:srgbClr val="FFFFFF"/>
                          </a:solidFill>
                          <a:latin typeface="Calibri"/>
                        </a:defRPr>
                      </a:pPr>
                      <a:r>
                        <a:t>Híbridos</a:t>
                      </a:r>
                    </a:p>
                  </a:txBody>
                  <a:tcPr>
                    <a:solidFill>
                      <a:srgbClr val="003366"/>
                    </a:solidFill>
                  </a:tcPr>
                </a:tc>
              </a:tr>
              <a:tr h="514350">
                <a:tc>
                  <a:txBody>
                    <a:bodyPr/>
                    <a:lstStyle/>
                    <a:p>
                      <a:pPr algn="l">
                        <a:defRPr sz="1400">
                          <a:solidFill>
                            <a:srgbClr val="000000"/>
                          </a:solidFill>
                          <a:latin typeface="Calibri"/>
                        </a:defRPr>
                      </a:pPr>
                      <a:r>
                        <a:t>Planificación</a:t>
                      </a:r>
                    </a:p>
                  </a:txBody>
                  <a:tcPr/>
                </a:tc>
                <a:tc>
                  <a:txBody>
                    <a:bodyPr/>
                    <a:lstStyle/>
                    <a:p>
                      <a:pPr algn="ctr">
                        <a:defRPr sz="1400">
                          <a:solidFill>
                            <a:srgbClr val="000000"/>
                          </a:solidFill>
                          <a:latin typeface="Calibri"/>
                        </a:defRPr>
                      </a:pPr>
                      <a:r>
                        <a:t>Detallada inicial</a:t>
                      </a:r>
                    </a:p>
                  </a:txBody>
                  <a:tcPr/>
                </a:tc>
                <a:tc>
                  <a:txBody>
                    <a:bodyPr/>
                    <a:lstStyle/>
                    <a:p>
                      <a:pPr algn="ctr">
                        <a:defRPr sz="1400">
                          <a:solidFill>
                            <a:srgbClr val="000000"/>
                          </a:solidFill>
                          <a:latin typeface="Calibri"/>
                        </a:defRPr>
                      </a:pPr>
                      <a:r>
                        <a:t>Iterativa</a:t>
                      </a:r>
                    </a:p>
                  </a:txBody>
                  <a:tcPr/>
                </a:tc>
                <a:tc>
                  <a:txBody>
                    <a:bodyPr/>
                    <a:lstStyle/>
                    <a:p>
                      <a:pPr algn="ctr">
                        <a:defRPr sz="1400">
                          <a:solidFill>
                            <a:srgbClr val="000000"/>
                          </a:solidFill>
                          <a:latin typeface="Calibri"/>
                        </a:defRPr>
                      </a:pPr>
                      <a:r>
                        <a:t>Mixta</a:t>
                      </a:r>
                    </a:p>
                  </a:txBody>
                  <a:tcPr/>
                </a:tc>
              </a:tr>
              <a:tr h="514350">
                <a:tc>
                  <a:txBody>
                    <a:bodyPr/>
                    <a:lstStyle/>
                    <a:p>
                      <a:pPr algn="l">
                        <a:defRPr sz="1400">
                          <a:solidFill>
                            <a:srgbClr val="000000"/>
                          </a:solidFill>
                          <a:latin typeface="Calibri"/>
                        </a:defRPr>
                      </a:pPr>
                      <a:r>
                        <a:t>Flexibilidad</a:t>
                      </a:r>
                    </a:p>
                  </a:txBody>
                  <a:tcPr>
                    <a:solidFill>
                      <a:srgbClr val="DCEBFA"/>
                    </a:solidFill>
                  </a:tcPr>
                </a:tc>
                <a:tc>
                  <a:txBody>
                    <a:bodyPr/>
                    <a:lstStyle/>
                    <a:p>
                      <a:pPr algn="ctr">
                        <a:defRPr sz="1400">
                          <a:solidFill>
                            <a:srgbClr val="000000"/>
                          </a:solidFill>
                          <a:latin typeface="Calibri"/>
                        </a:defRPr>
                      </a:pPr>
                      <a:r>
                        <a:t>Baja</a:t>
                      </a:r>
                    </a:p>
                  </a:txBody>
                  <a:tcPr>
                    <a:solidFill>
                      <a:srgbClr val="DCEBFA"/>
                    </a:solidFill>
                  </a:tcPr>
                </a:tc>
                <a:tc>
                  <a:txBody>
                    <a:bodyPr/>
                    <a:lstStyle/>
                    <a:p>
                      <a:pPr algn="ctr">
                        <a:defRPr sz="1400">
                          <a:solidFill>
                            <a:srgbClr val="000000"/>
                          </a:solidFill>
                          <a:latin typeface="Calibri"/>
                        </a:defRPr>
                      </a:pPr>
                      <a:r>
                        <a:t>Alta</a:t>
                      </a:r>
                    </a:p>
                  </a:txBody>
                  <a:tcPr>
                    <a:solidFill>
                      <a:srgbClr val="DCEBFA"/>
                    </a:solidFill>
                  </a:tcPr>
                </a:tc>
                <a:tc>
                  <a:txBody>
                    <a:bodyPr/>
                    <a:lstStyle/>
                    <a:p>
                      <a:pPr algn="ctr">
                        <a:defRPr sz="1400">
                          <a:solidFill>
                            <a:srgbClr val="000000"/>
                          </a:solidFill>
                          <a:latin typeface="Calibri"/>
                        </a:defRPr>
                      </a:pPr>
                      <a:r>
                        <a:t>Media-alta</a:t>
                      </a:r>
                    </a:p>
                  </a:txBody>
                  <a:tcPr>
                    <a:solidFill>
                      <a:srgbClr val="DCEBFA"/>
                    </a:solidFill>
                  </a:tcPr>
                </a:tc>
              </a:tr>
              <a:tr h="514350">
                <a:tc>
                  <a:txBody>
                    <a:bodyPr/>
                    <a:lstStyle/>
                    <a:p>
                      <a:pPr algn="l">
                        <a:defRPr sz="1400">
                          <a:solidFill>
                            <a:srgbClr val="000000"/>
                          </a:solidFill>
                          <a:latin typeface="Calibri"/>
                        </a:defRPr>
                      </a:pPr>
                      <a:r>
                        <a:t>Documentación</a:t>
                      </a:r>
                    </a:p>
                  </a:txBody>
                  <a:tcPr/>
                </a:tc>
                <a:tc>
                  <a:txBody>
                    <a:bodyPr/>
                    <a:lstStyle/>
                    <a:p>
                      <a:pPr algn="ctr">
                        <a:defRPr sz="1400">
                          <a:solidFill>
                            <a:srgbClr val="000000"/>
                          </a:solidFill>
                          <a:latin typeface="Calibri"/>
                        </a:defRPr>
                      </a:pPr>
                      <a:r>
                        <a:t>Extensa</a:t>
                      </a:r>
                    </a:p>
                  </a:txBody>
                  <a:tcPr/>
                </a:tc>
                <a:tc>
                  <a:txBody>
                    <a:bodyPr/>
                    <a:lstStyle/>
                    <a:p>
                      <a:pPr algn="ctr">
                        <a:defRPr sz="1400">
                          <a:solidFill>
                            <a:srgbClr val="000000"/>
                          </a:solidFill>
                          <a:latin typeface="Calibri"/>
                        </a:defRPr>
                      </a:pPr>
                      <a:r>
                        <a:t>Mínima</a:t>
                      </a:r>
                    </a:p>
                  </a:txBody>
                  <a:tcPr/>
                </a:tc>
                <a:tc>
                  <a:txBody>
                    <a:bodyPr/>
                    <a:lstStyle/>
                    <a:p>
                      <a:pPr algn="ctr">
                        <a:defRPr sz="1400">
                          <a:solidFill>
                            <a:srgbClr val="000000"/>
                          </a:solidFill>
                          <a:latin typeface="Calibri"/>
                        </a:defRPr>
                      </a:pPr>
                      <a:r>
                        <a:t>Moderada</a:t>
                      </a:r>
                    </a:p>
                  </a:txBody>
                  <a:tcPr/>
                </a:tc>
              </a:tr>
              <a:tr h="514350">
                <a:tc>
                  <a:txBody>
                    <a:bodyPr/>
                    <a:lstStyle/>
                    <a:p>
                      <a:pPr algn="l">
                        <a:defRPr sz="1400">
                          <a:solidFill>
                            <a:srgbClr val="000000"/>
                          </a:solidFill>
                          <a:latin typeface="Calibri"/>
                        </a:defRPr>
                      </a:pPr>
                      <a:r>
                        <a:t>Control</a:t>
                      </a:r>
                    </a:p>
                  </a:txBody>
                  <a:tcPr>
                    <a:solidFill>
                      <a:srgbClr val="DCEBFA"/>
                    </a:solidFill>
                  </a:tcPr>
                </a:tc>
                <a:tc>
                  <a:txBody>
                    <a:bodyPr/>
                    <a:lstStyle/>
                    <a:p>
                      <a:pPr algn="ctr">
                        <a:defRPr sz="1400">
                          <a:solidFill>
                            <a:srgbClr val="000000"/>
                          </a:solidFill>
                          <a:latin typeface="Calibri"/>
                        </a:defRPr>
                      </a:pPr>
                      <a:r>
                        <a:t>Formal, centralizado</a:t>
                      </a:r>
                    </a:p>
                  </a:txBody>
                  <a:tcPr>
                    <a:solidFill>
                      <a:srgbClr val="DCEBFA"/>
                    </a:solidFill>
                  </a:tcPr>
                </a:tc>
                <a:tc>
                  <a:txBody>
                    <a:bodyPr/>
                    <a:lstStyle/>
                    <a:p>
                      <a:pPr algn="ctr">
                        <a:defRPr sz="1400">
                          <a:solidFill>
                            <a:srgbClr val="000000"/>
                          </a:solidFill>
                          <a:latin typeface="Calibri"/>
                        </a:defRPr>
                      </a:pPr>
                      <a:r>
                        <a:t>Autogestión</a:t>
                      </a:r>
                    </a:p>
                  </a:txBody>
                  <a:tcPr>
                    <a:solidFill>
                      <a:srgbClr val="DCEBFA"/>
                    </a:solidFill>
                  </a:tcPr>
                </a:tc>
                <a:tc>
                  <a:txBody>
                    <a:bodyPr/>
                    <a:lstStyle/>
                    <a:p>
                      <a:pPr algn="ctr">
                        <a:defRPr sz="1400">
                          <a:solidFill>
                            <a:srgbClr val="000000"/>
                          </a:solidFill>
                          <a:latin typeface="Calibri"/>
                        </a:defRPr>
                      </a:pPr>
                      <a:r>
                        <a:t>Gobernanza+Agilidad</a:t>
                      </a:r>
                    </a:p>
                  </a:txBody>
                  <a:tcPr>
                    <a:solidFill>
                      <a:srgbClr val="DCEBFA"/>
                    </a:solidFill>
                  </a:tcPr>
                </a:tc>
              </a:tr>
              <a:tr h="514350">
                <a:tc>
                  <a:txBody>
                    <a:bodyPr/>
                    <a:lstStyle/>
                    <a:p>
                      <a:pPr algn="l">
                        <a:defRPr sz="1400">
                          <a:solidFill>
                            <a:srgbClr val="000000"/>
                          </a:solidFill>
                          <a:latin typeface="Calibri"/>
                        </a:defRPr>
                      </a:pPr>
                      <a:r>
                        <a:t>Riesgos</a:t>
                      </a:r>
                    </a:p>
                  </a:txBody>
                  <a:tcPr/>
                </a:tc>
                <a:tc>
                  <a:txBody>
                    <a:bodyPr/>
                    <a:lstStyle/>
                    <a:p>
                      <a:pPr algn="ctr">
                        <a:defRPr sz="1400">
                          <a:solidFill>
                            <a:srgbClr val="000000"/>
                          </a:solidFill>
                          <a:latin typeface="Calibri"/>
                        </a:defRPr>
                      </a:pPr>
                      <a:r>
                        <a:t>Análisis inicial</a:t>
                      </a:r>
                    </a:p>
                  </a:txBody>
                  <a:tcPr/>
                </a:tc>
                <a:tc>
                  <a:txBody>
                    <a:bodyPr/>
                    <a:lstStyle/>
                    <a:p>
                      <a:pPr algn="ctr">
                        <a:defRPr sz="1400">
                          <a:solidFill>
                            <a:srgbClr val="000000"/>
                          </a:solidFill>
                          <a:latin typeface="Calibri"/>
                        </a:defRPr>
                      </a:pPr>
                      <a:r>
                        <a:t>Mitigación continua</a:t>
                      </a:r>
                    </a:p>
                  </a:txBody>
                  <a:tcPr/>
                </a:tc>
                <a:tc>
                  <a:txBody>
                    <a:bodyPr/>
                    <a:lstStyle/>
                    <a:p>
                      <a:pPr algn="ctr">
                        <a:defRPr sz="1400">
                          <a:solidFill>
                            <a:srgbClr val="000000"/>
                          </a:solidFill>
                          <a:latin typeface="Calibri"/>
                        </a:defRPr>
                      </a:pPr>
                      <a:r>
                        <a:t>Enfoque combinado</a:t>
                      </a:r>
                    </a:p>
                  </a:txBody>
                  <a:tcPr/>
                </a:tc>
              </a:tr>
              <a:tr h="514350">
                <a:tc>
                  <a:txBody>
                    <a:bodyPr/>
                    <a:lstStyle/>
                    <a:p>
                      <a:pPr algn="l">
                        <a:defRPr sz="1400">
                          <a:solidFill>
                            <a:srgbClr val="000000"/>
                          </a:solidFill>
                          <a:latin typeface="Calibri"/>
                        </a:defRPr>
                      </a:pPr>
                      <a:r>
                        <a:t>Costo/Plazo</a:t>
                      </a:r>
                    </a:p>
                  </a:txBody>
                  <a:tcPr>
                    <a:solidFill>
                      <a:srgbClr val="DCEBFA"/>
                    </a:solidFill>
                  </a:tcPr>
                </a:tc>
                <a:tc>
                  <a:txBody>
                    <a:bodyPr/>
                    <a:lstStyle/>
                    <a:p>
                      <a:pPr algn="ctr">
                        <a:defRPr sz="1400">
                          <a:solidFill>
                            <a:srgbClr val="000000"/>
                          </a:solidFill>
                          <a:latin typeface="Calibri"/>
                        </a:defRPr>
                      </a:pPr>
                      <a:r>
                        <a:t>Estimación temprana</a:t>
                      </a:r>
                    </a:p>
                  </a:txBody>
                  <a:tcPr>
                    <a:solidFill>
                      <a:srgbClr val="DCEBFA"/>
                    </a:solidFill>
                  </a:tcPr>
                </a:tc>
                <a:tc>
                  <a:txBody>
                    <a:bodyPr/>
                    <a:lstStyle/>
                    <a:p>
                      <a:pPr algn="ctr">
                        <a:defRPr sz="1400">
                          <a:solidFill>
                            <a:srgbClr val="000000"/>
                          </a:solidFill>
                          <a:latin typeface="Calibri"/>
                        </a:defRPr>
                      </a:pPr>
                      <a:r>
                        <a:t>Refinamiento continuo</a:t>
                      </a:r>
                    </a:p>
                  </a:txBody>
                  <a:tcPr>
                    <a:solidFill>
                      <a:srgbClr val="DCEBFA"/>
                    </a:solidFill>
                  </a:tcPr>
                </a:tc>
                <a:tc>
                  <a:txBody>
                    <a:bodyPr/>
                    <a:lstStyle/>
                    <a:p>
                      <a:pPr algn="ctr">
                        <a:defRPr sz="1400">
                          <a:solidFill>
                            <a:srgbClr val="000000"/>
                          </a:solidFill>
                          <a:latin typeface="Calibri"/>
                        </a:defRPr>
                      </a:pPr>
                      <a:r>
                        <a:t>Híbrido</a:t>
                      </a:r>
                    </a:p>
                  </a:txBody>
                  <a:tcPr>
                    <a:solidFill>
                      <a:srgbClr val="DCEBFA"/>
                    </a:solidFill>
                  </a:tcPr>
                </a:tc>
              </a:tr>
              <a:tr h="514350">
                <a:tc>
                  <a:txBody>
                    <a:bodyPr/>
                    <a:lstStyle/>
                    <a:p>
                      <a:pPr algn="l">
                        <a:defRPr sz="1400">
                          <a:solidFill>
                            <a:srgbClr val="000000"/>
                          </a:solidFill>
                          <a:latin typeface="Calibri"/>
                        </a:defRPr>
                      </a:pPr>
                      <a:r>
                        <a:t>Cliente</a:t>
                      </a:r>
                    </a:p>
                  </a:txBody>
                  <a:tcPr/>
                </a:tc>
                <a:tc>
                  <a:txBody>
                    <a:bodyPr/>
                    <a:lstStyle/>
                    <a:p>
                      <a:pPr algn="ctr">
                        <a:defRPr sz="1400">
                          <a:solidFill>
                            <a:srgbClr val="000000"/>
                          </a:solidFill>
                          <a:latin typeface="Calibri"/>
                        </a:defRPr>
                      </a:pPr>
                      <a:r>
                        <a:t>Contractual</a:t>
                      </a:r>
                    </a:p>
                  </a:txBody>
                  <a:tcPr/>
                </a:tc>
                <a:tc>
                  <a:txBody>
                    <a:bodyPr/>
                    <a:lstStyle/>
                    <a:p>
                      <a:pPr algn="ctr">
                        <a:defRPr sz="1400">
                          <a:solidFill>
                            <a:srgbClr val="000000"/>
                          </a:solidFill>
                          <a:latin typeface="Calibri"/>
                        </a:defRPr>
                      </a:pPr>
                      <a:r>
                        <a:t>Colaboración</a:t>
                      </a:r>
                    </a:p>
                  </a:txBody>
                  <a:tcPr/>
                </a:tc>
                <a:tc>
                  <a:txBody>
                    <a:bodyPr/>
                    <a:lstStyle/>
                    <a:p>
                      <a:pPr algn="ctr">
                        <a:defRPr sz="1400">
                          <a:solidFill>
                            <a:srgbClr val="000000"/>
                          </a:solidFill>
                          <a:latin typeface="Calibri"/>
                        </a:defRPr>
                      </a:pPr>
                      <a:r>
                        <a:t>Participación activa</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3000" b="1" i="0">
                <a:solidFill>
                  <a:srgbClr val="FFFFFF"/>
                </a:solidFill>
                <a:latin typeface="Calibri"/>
              </a:defRPr>
            </a:pPr>
            <a:r>
              <a:t>Enfoques Híbridos: Lo Mejor de Ambos Mundos</a:t>
            </a:r>
          </a:p>
        </p:txBody>
      </p:sp>
      <p:sp>
        <p:nvSpPr>
          <p:cNvPr id="4" name="TextBox 3"/>
          <p:cNvSpPr txBox="1"/>
          <p:nvPr/>
        </p:nvSpPr>
        <p:spPr>
          <a:xfrm>
            <a:off x="914400" y="1371600"/>
            <a:ext cx="10058400" cy="5029200"/>
          </a:xfrm>
          <a:prstGeom prst="rect">
            <a:avLst/>
          </a:prstGeom>
          <a:noFill/>
        </p:spPr>
        <p:txBody>
          <a:bodyPr wrap="square">
            <a:spAutoFit/>
          </a:bodyPr>
          <a:lstStyle/>
          <a:p>
            <a:pPr>
              <a:spcAft>
                <a:spcPts val="600"/>
              </a:spcAft>
              <a:defRPr sz="1700">
                <a:solidFill>
                  <a:srgbClr val="000000"/>
                </a:solidFill>
                <a:latin typeface="Calibri"/>
              </a:defRPr>
            </a:pPr>
            <a:r>
              <a:t>Water-Scrum-Fall: Cascada para planificación + Scrum para ejecución + cierre formal</a:t>
            </a:r>
          </a:p>
          <a:p>
            <a:pPr>
              <a:spcAft>
                <a:spcPts val="600"/>
              </a:spcAft>
              <a:defRPr sz="1700">
                <a:solidFill>
                  <a:srgbClr val="000000"/>
                </a:solidFill>
                <a:latin typeface="Calibri"/>
              </a:defRPr>
            </a:pPr>
            <a:r>
              <a:t>PRINCE2-Ágil: Gobierno robusto + entregas iterativas</a:t>
            </a:r>
          </a:p>
          <a:p>
            <a:pPr>
              <a:spcAft>
                <a:spcPts val="600"/>
              </a:spcAft>
              <a:defRPr sz="1700">
                <a:solidFill>
                  <a:srgbClr val="000000"/>
                </a:solidFill>
                <a:latin typeface="Calibri"/>
              </a:defRPr>
            </a:pPr>
            <a:r>
              <a:t>Lean-Agile: Eficiencia Lean + flexibilidad Agile</a:t>
            </a:r>
          </a:p>
          <a:p>
            <a:pPr>
              <a:spcAft>
                <a:spcPts val="600"/>
              </a:spcAft>
              <a:defRPr sz="1700">
                <a:solidFill>
                  <a:srgbClr val="000000"/>
                </a:solidFill>
                <a:latin typeface="Calibri"/>
              </a:defRPr>
            </a:pPr>
            <a:r>
              <a:t>Beneficios clave:</a:t>
            </a:r>
          </a:p>
          <a:p>
            <a:pPr>
              <a:spcAft>
                <a:spcPts val="600"/>
              </a:spcAft>
              <a:defRPr sz="1700">
                <a:solidFill>
                  <a:srgbClr val="000000"/>
                </a:solidFill>
                <a:latin typeface="Calibri"/>
              </a:defRPr>
            </a:pPr>
            <a:r>
              <a:t>  • Rigurosidad en evaluación financiera y gestión de riesgos</a:t>
            </a:r>
          </a:p>
          <a:p>
            <a:pPr>
              <a:spcAft>
                <a:spcPts val="600"/>
              </a:spcAft>
              <a:defRPr sz="1700">
                <a:solidFill>
                  <a:srgbClr val="000000"/>
                </a:solidFill>
                <a:latin typeface="Calibri"/>
              </a:defRPr>
            </a:pPr>
            <a:r>
              <a:t>  • Flexibilidad para adaptarse a cambios del entorno</a:t>
            </a:r>
          </a:p>
          <a:p>
            <a:pPr>
              <a:spcAft>
                <a:spcPts val="600"/>
              </a:spcAft>
              <a:defRPr sz="1700">
                <a:solidFill>
                  <a:srgbClr val="000000"/>
                </a:solidFill>
                <a:latin typeface="Calibri"/>
              </a:defRPr>
            </a:pPr>
            <a:r>
              <a:t>  • Documentación adecuada sin sobrecarga administrativa</a:t>
            </a:r>
          </a:p>
          <a:p>
            <a:pPr>
              <a:spcAft>
                <a:spcPts val="600"/>
              </a:spcAft>
              <a:defRPr sz="1700">
                <a:solidFill>
                  <a:srgbClr val="000000"/>
                </a:solidFill>
                <a:latin typeface="Calibri"/>
              </a:defRPr>
            </a:pPr>
            <a:r>
              <a:t>  • Satisfacción del cliente mediante entregas incrementales</a:t>
            </a:r>
          </a:p>
          <a:p>
            <a:pPr>
              <a:spcAft>
                <a:spcPts val="600"/>
              </a:spcAft>
              <a:defRPr sz="1700">
                <a:solidFill>
                  <a:srgbClr val="000000"/>
                </a:solidFill>
                <a:latin typeface="Calibri"/>
              </a:defRPr>
            </a:pPr>
            <a:r>
              <a:t>Tendencia: Más del 60% de organizaciones usan enfoques híbridos (PMI,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3000" b="1" i="0">
                <a:solidFill>
                  <a:srgbClr val="FFFFFF"/>
                </a:solidFill>
                <a:latin typeface="Calibri"/>
              </a:defRPr>
            </a:pPr>
            <a:r>
              <a:t>Tecnologías Digitales en la Gestión de Proyectos</a:t>
            </a:r>
          </a:p>
        </p:txBody>
      </p:sp>
      <p:sp>
        <p:nvSpPr>
          <p:cNvPr id="4" name="TextBox 3"/>
          <p:cNvSpPr txBox="1"/>
          <p:nvPr/>
        </p:nvSpPr>
        <p:spPr>
          <a:xfrm>
            <a:off x="914400" y="1371600"/>
            <a:ext cx="10058400" cy="5029200"/>
          </a:xfrm>
          <a:prstGeom prst="rect">
            <a:avLst/>
          </a:prstGeom>
          <a:noFill/>
        </p:spPr>
        <p:txBody>
          <a:bodyPr wrap="square">
            <a:spAutoFit/>
          </a:bodyPr>
          <a:lstStyle/>
          <a:p>
            <a:pPr>
              <a:spcAft>
                <a:spcPts val="600"/>
              </a:spcAft>
              <a:defRPr sz="1700">
                <a:solidFill>
                  <a:srgbClr val="000000"/>
                </a:solidFill>
                <a:latin typeface="Calibri"/>
              </a:defRPr>
            </a:pPr>
            <a:r>
              <a:t>Software especializado: MS Project, Jira, Asana, Trello, Notion</a:t>
            </a:r>
          </a:p>
          <a:p>
            <a:pPr>
              <a:spcAft>
                <a:spcPts val="600"/>
              </a:spcAft>
              <a:defRPr sz="1700">
                <a:solidFill>
                  <a:srgbClr val="000000"/>
                </a:solidFill>
                <a:latin typeface="Calibri"/>
              </a:defRPr>
            </a:pPr>
            <a:r>
              <a:t>Inteligencia Artificial: Estimación predictiva, análisis de riesgos, automatización</a:t>
            </a:r>
          </a:p>
          <a:p>
            <a:pPr>
              <a:spcAft>
                <a:spcPts val="600"/>
              </a:spcAft>
              <a:defRPr sz="1700">
                <a:solidFill>
                  <a:srgbClr val="000000"/>
                </a:solidFill>
                <a:latin typeface="Calibri"/>
              </a:defRPr>
            </a:pPr>
            <a:r>
              <a:t>Building Information Modeling (BIM): Modelos 3D interoperables para construcción</a:t>
            </a:r>
          </a:p>
          <a:p>
            <a:pPr>
              <a:spcAft>
                <a:spcPts val="600"/>
              </a:spcAft>
              <a:defRPr sz="1700">
                <a:solidFill>
                  <a:srgbClr val="000000"/>
                </a:solidFill>
                <a:latin typeface="Calibri"/>
              </a:defRPr>
            </a:pPr>
            <a:r>
              <a:t>Plataformas colaborativas: Confluence, SharePoint, Teams</a:t>
            </a:r>
          </a:p>
          <a:p>
            <a:pPr>
              <a:spcAft>
                <a:spcPts val="600"/>
              </a:spcAft>
              <a:defRPr sz="1700">
                <a:solidFill>
                  <a:srgbClr val="000000"/>
                </a:solidFill>
                <a:latin typeface="Calibri"/>
              </a:defRPr>
            </a:pPr>
            <a:r>
              <a:t>Tendencias emergentes:</a:t>
            </a:r>
          </a:p>
          <a:p>
            <a:pPr>
              <a:spcAft>
                <a:spcPts val="600"/>
              </a:spcAft>
              <a:defRPr sz="1700">
                <a:solidFill>
                  <a:srgbClr val="000000"/>
                </a:solidFill>
                <a:latin typeface="Calibri"/>
              </a:defRPr>
            </a:pPr>
            <a:r>
              <a:t>  • IA Generativa para redacción de documentos y propuestas</a:t>
            </a:r>
          </a:p>
          <a:p>
            <a:pPr>
              <a:spcAft>
                <a:spcPts val="600"/>
              </a:spcAft>
              <a:defRPr sz="1700">
                <a:solidFill>
                  <a:srgbClr val="000000"/>
                </a:solidFill>
                <a:latin typeface="Calibri"/>
              </a:defRPr>
            </a:pPr>
            <a:r>
              <a:t>  • Analytics predictivo para identificación temprana de desviaciones</a:t>
            </a:r>
          </a:p>
          <a:p>
            <a:pPr>
              <a:spcAft>
                <a:spcPts val="600"/>
              </a:spcAft>
              <a:defRPr sz="1700">
                <a:solidFill>
                  <a:srgbClr val="000000"/>
                </a:solidFill>
                <a:latin typeface="Calibri"/>
              </a:defRPr>
            </a:pPr>
            <a:r>
              <a:t>  • Automatización de procesos rutinarios (RPA)</a:t>
            </a:r>
          </a:p>
          <a:p>
            <a:pPr>
              <a:spcAft>
                <a:spcPts val="600"/>
              </a:spcAft>
              <a:defRPr sz="1700">
                <a:solidFill>
                  <a:srgbClr val="000000"/>
                </a:solidFill>
                <a:latin typeface="Calibri"/>
              </a:defRPr>
            </a:pPr>
            <a:r>
              <a:t>Desafíos: Calidad de datos, capacitación, ciberseguridad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3000" b="1" i="0">
                <a:solidFill>
                  <a:srgbClr val="FFFFFF"/>
                </a:solidFill>
                <a:latin typeface="Calibri"/>
              </a:defRPr>
            </a:pPr>
            <a:r>
              <a:t>Casos de Aplicación en América Latina</a:t>
            </a:r>
          </a:p>
        </p:txBody>
      </p:sp>
      <p:sp>
        <p:nvSpPr>
          <p:cNvPr id="4" name="TextBox 3"/>
          <p:cNvSpPr txBox="1"/>
          <p:nvPr/>
        </p:nvSpPr>
        <p:spPr>
          <a:xfrm>
            <a:off x="457200" y="1280160"/>
            <a:ext cx="5029200" cy="457200"/>
          </a:xfrm>
          <a:prstGeom prst="rect">
            <a:avLst/>
          </a:prstGeom>
          <a:noFill/>
        </p:spPr>
        <p:txBody>
          <a:bodyPr wrap="square">
            <a:spAutoFit/>
          </a:bodyPr>
          <a:lstStyle/>
          <a:p>
            <a:pPr algn="l">
              <a:defRPr sz="2200" b="1" i="0">
                <a:solidFill>
                  <a:srgbClr val="003366"/>
                </a:solidFill>
                <a:latin typeface="Calibri"/>
              </a:defRPr>
            </a:pPr>
            <a:r>
              <a:t>Sector Público</a:t>
            </a:r>
          </a:p>
        </p:txBody>
      </p:sp>
      <p:sp>
        <p:nvSpPr>
          <p:cNvPr id="5" name="TextBox 4"/>
          <p:cNvSpPr txBox="1"/>
          <p:nvPr/>
        </p:nvSpPr>
        <p:spPr>
          <a:xfrm>
            <a:off x="457200" y="1828800"/>
            <a:ext cx="5029200" cy="2743200"/>
          </a:xfrm>
          <a:prstGeom prst="rect">
            <a:avLst/>
          </a:prstGeom>
          <a:noFill/>
        </p:spPr>
        <p:txBody>
          <a:bodyPr wrap="square">
            <a:spAutoFit/>
          </a:bodyPr>
          <a:lstStyle/>
          <a:p>
            <a:pPr>
              <a:spcAft>
                <a:spcPts val="600"/>
              </a:spcAft>
              <a:defRPr sz="1600">
                <a:solidFill>
                  <a:srgbClr val="000000"/>
                </a:solidFill>
                <a:latin typeface="Calibri"/>
              </a:defRPr>
            </a:pPr>
            <a:r>
              <a:t>México: Programa Mejoramiento de Barrios (BID+MML)</a:t>
            </a:r>
          </a:p>
          <a:p>
            <a:pPr>
              <a:spcAft>
                <a:spcPts val="600"/>
              </a:spcAft>
              <a:defRPr sz="1600">
                <a:solidFill>
                  <a:srgbClr val="000000"/>
                </a:solidFill>
                <a:latin typeface="Calibri"/>
              </a:defRPr>
            </a:pPr>
            <a:r>
              <a:t>Impacto: 500,000+ habitantes beneficiados</a:t>
            </a:r>
          </a:p>
          <a:p>
            <a:pPr>
              <a:spcAft>
                <a:spcPts val="600"/>
              </a:spcAft>
              <a:defRPr sz="1600">
                <a:solidFill>
                  <a:srgbClr val="000000"/>
                </a:solidFill>
                <a:latin typeface="Calibri"/>
              </a:defRPr>
            </a:pPr>
            <a:r>
              <a:t>Colombia: Infraestructura vial con PMBOK</a:t>
            </a:r>
          </a:p>
          <a:p>
            <a:pPr>
              <a:spcAft>
                <a:spcPts val="600"/>
              </a:spcAft>
              <a:defRPr sz="1600">
                <a:solidFill>
                  <a:srgbClr val="000000"/>
                </a:solidFill>
                <a:latin typeface="Calibri"/>
              </a:defRPr>
            </a:pPr>
            <a:r>
              <a:t>Desviación de costos: 8% (vs. 24% sin metodología)</a:t>
            </a:r>
          </a:p>
        </p:txBody>
      </p:sp>
      <p:sp>
        <p:nvSpPr>
          <p:cNvPr id="6" name="TextBox 5"/>
          <p:cNvSpPr txBox="1"/>
          <p:nvPr/>
        </p:nvSpPr>
        <p:spPr>
          <a:xfrm>
            <a:off x="6400800" y="1280160"/>
            <a:ext cx="5029200" cy="457200"/>
          </a:xfrm>
          <a:prstGeom prst="rect">
            <a:avLst/>
          </a:prstGeom>
          <a:noFill/>
        </p:spPr>
        <p:txBody>
          <a:bodyPr wrap="square">
            <a:spAutoFit/>
          </a:bodyPr>
          <a:lstStyle/>
          <a:p>
            <a:pPr algn="l">
              <a:defRPr sz="2200" b="1" i="0">
                <a:solidFill>
                  <a:srgbClr val="003366"/>
                </a:solidFill>
                <a:latin typeface="Calibri"/>
              </a:defRPr>
            </a:pPr>
            <a:r>
              <a:t>Sector Privado</a:t>
            </a:r>
          </a:p>
        </p:txBody>
      </p:sp>
      <p:sp>
        <p:nvSpPr>
          <p:cNvPr id="7" name="TextBox 6"/>
          <p:cNvSpPr txBox="1"/>
          <p:nvPr/>
        </p:nvSpPr>
        <p:spPr>
          <a:xfrm>
            <a:off x="6400800" y="1828800"/>
            <a:ext cx="5029200" cy="2743200"/>
          </a:xfrm>
          <a:prstGeom prst="rect">
            <a:avLst/>
          </a:prstGeom>
          <a:noFill/>
        </p:spPr>
        <p:txBody>
          <a:bodyPr wrap="square">
            <a:spAutoFit/>
          </a:bodyPr>
          <a:lstStyle/>
          <a:p>
            <a:pPr>
              <a:spcAft>
                <a:spcPts val="600"/>
              </a:spcAft>
              <a:defRPr sz="1600">
                <a:solidFill>
                  <a:srgbClr val="000000"/>
                </a:solidFill>
                <a:latin typeface="Calibri"/>
              </a:defRPr>
            </a:pPr>
            <a:r>
              <a:t>Brasil: Nubank (Scrum + Lean Startup)</a:t>
            </a:r>
          </a:p>
          <a:p>
            <a:pPr>
              <a:spcAft>
                <a:spcPts val="600"/>
              </a:spcAft>
              <a:defRPr sz="1600">
                <a:solidFill>
                  <a:srgbClr val="000000"/>
                </a:solidFill>
                <a:latin typeface="Calibri"/>
              </a:defRPr>
            </a:pPr>
            <a:r>
              <a:t>Valoración: &gt; USD 30 mil millones (2021)</a:t>
            </a:r>
          </a:p>
          <a:p>
            <a:pPr>
              <a:spcAft>
                <a:spcPts val="600"/>
              </a:spcAft>
              <a:defRPr sz="1600">
                <a:solidFill>
                  <a:srgbClr val="000000"/>
                </a:solidFill>
                <a:latin typeface="Calibri"/>
              </a:defRPr>
            </a:pPr>
            <a:r>
              <a:t>Chile: Startup Chile (metodologías ágiles)</a:t>
            </a:r>
          </a:p>
          <a:p>
            <a:pPr>
              <a:spcAft>
                <a:spcPts val="600"/>
              </a:spcAft>
              <a:defRPr sz="1600">
                <a:solidFill>
                  <a:srgbClr val="000000"/>
                </a:solidFill>
                <a:latin typeface="Calibri"/>
              </a:defRPr>
            </a:pPr>
            <a:r>
              <a:t>Programa de aceleración pionero en la región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3000" b="1" i="0">
                <a:solidFill>
                  <a:srgbClr val="FFFFFF"/>
                </a:solidFill>
                <a:latin typeface="Calibri"/>
              </a:defRPr>
            </a:pPr>
            <a:r>
              <a:t>Conclusiones y Recomendaciones</a:t>
            </a:r>
          </a:p>
        </p:txBody>
      </p:sp>
      <p:sp>
        <p:nvSpPr>
          <p:cNvPr id="4" name="TextBox 3"/>
          <p:cNvSpPr txBox="1"/>
          <p:nvPr/>
        </p:nvSpPr>
        <p:spPr>
          <a:xfrm>
            <a:off x="914400" y="1371600"/>
            <a:ext cx="10058400" cy="5029200"/>
          </a:xfrm>
          <a:prstGeom prst="rect">
            <a:avLst/>
          </a:prstGeom>
          <a:noFill/>
        </p:spPr>
        <p:txBody>
          <a:bodyPr wrap="square">
            <a:spAutoFit/>
          </a:bodyPr>
          <a:lstStyle/>
          <a:p>
            <a:pPr>
              <a:spcAft>
                <a:spcPts val="600"/>
              </a:spcAft>
              <a:defRPr sz="1700">
                <a:solidFill>
                  <a:srgbClr val="000000"/>
                </a:solidFill>
                <a:latin typeface="Calibri"/>
              </a:defRPr>
            </a:pPr>
            <a:r>
              <a:t>No existe una metodología universal: cada proyecto requiere un enfoque adaptado</a:t>
            </a:r>
          </a:p>
          <a:p>
            <a:pPr>
              <a:spcAft>
                <a:spcPts val="600"/>
              </a:spcAft>
              <a:defRPr sz="1700">
                <a:solidFill>
                  <a:srgbClr val="000000"/>
                </a:solidFill>
                <a:latin typeface="Calibri"/>
              </a:defRPr>
            </a:pPr>
            <a:r>
              <a:t>Tradicional: óptimo para proyectos grandes, regulatorios, con requisitos estrictos</a:t>
            </a:r>
          </a:p>
          <a:p>
            <a:pPr>
              <a:spcAft>
                <a:spcPts val="600"/>
              </a:spcAft>
              <a:defRPr sz="1700">
                <a:solidFill>
                  <a:srgbClr val="000000"/>
                </a:solidFill>
                <a:latin typeface="Calibri"/>
              </a:defRPr>
            </a:pPr>
            <a:r>
              <a:t>Ágil: superior en innovación, alta incertidumbre, cambios frecuentes</a:t>
            </a:r>
          </a:p>
          <a:p>
            <a:pPr>
              <a:spcAft>
                <a:spcPts val="600"/>
              </a:spcAft>
              <a:defRPr sz="1700">
                <a:solidFill>
                  <a:srgbClr val="000000"/>
                </a:solidFill>
                <a:latin typeface="Calibri"/>
              </a:defRPr>
            </a:pPr>
            <a:r>
              <a:t>Híbrido: tendencia dominante — combina control + flexibilidad</a:t>
            </a:r>
          </a:p>
          <a:p>
            <a:pPr>
              <a:spcAft>
                <a:spcPts val="600"/>
              </a:spcAft>
              <a:defRPr sz="1700">
                <a:solidFill>
                  <a:srgbClr val="000000"/>
                </a:solidFill>
                <a:latin typeface="Calibri"/>
              </a:defRPr>
            </a:pPr>
            <a:r>
              <a:t>La tecnología es un habilitador clave: IA, BIM, plataformas colaborativas</a:t>
            </a:r>
          </a:p>
          <a:p>
            <a:pPr>
              <a:spcAft>
                <a:spcPts val="600"/>
              </a:spcAft>
              <a:defRPr sz="1700">
                <a:solidFill>
                  <a:srgbClr val="000000"/>
                </a:solidFill>
                <a:latin typeface="Calibri"/>
              </a:defRPr>
            </a:pPr>
            <a:r>
              <a:t>Recomendaciones:</a:t>
            </a:r>
          </a:p>
          <a:p>
            <a:pPr>
              <a:spcAft>
                <a:spcPts val="600"/>
              </a:spcAft>
              <a:defRPr sz="1700">
                <a:solidFill>
                  <a:srgbClr val="000000"/>
                </a:solidFill>
                <a:latin typeface="Calibri"/>
              </a:defRPr>
            </a:pPr>
            <a:r>
              <a:t>  • Desarrollar capacidades metodológicas diversas en la organización</a:t>
            </a:r>
          </a:p>
          <a:p>
            <a:pPr>
              <a:spcAft>
                <a:spcPts val="600"/>
              </a:spcAft>
              <a:defRPr sz="1700">
                <a:solidFill>
                  <a:srgbClr val="000000"/>
                </a:solidFill>
                <a:latin typeface="Calibri"/>
              </a:defRPr>
            </a:pPr>
            <a:r>
              <a:t>  • Invertir en formación continua (tradicional + ágil + tecnología)</a:t>
            </a:r>
          </a:p>
          <a:p>
            <a:pPr>
              <a:spcAft>
                <a:spcPts val="600"/>
              </a:spcAft>
              <a:defRPr sz="1700">
                <a:solidFill>
                  <a:srgbClr val="000000"/>
                </a:solidFill>
                <a:latin typeface="Calibri"/>
              </a:defRPr>
            </a:pPr>
            <a:r>
              <a:t>  • Implementar métricas de éxito alineadas con objetivos estratégicos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Rectangle 1"/>
          <p:cNvSpPr/>
          <p:nvPr/>
        </p:nvSpPr>
        <p:spPr>
          <a:xfrm>
            <a:off x="0" y="5943600"/>
            <a:ext cx="12191695" cy="914400"/>
          </a:xfrm>
          <a:prstGeom prst="rect">
            <a:avLst/>
          </a:prstGeom>
          <a:solidFill>
            <a:srgbClr val="FFB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371600"/>
          </a:xfrm>
          <a:prstGeom prst="rect">
            <a:avLst/>
          </a:prstGeom>
          <a:noFill/>
        </p:spPr>
        <p:txBody>
          <a:bodyPr wrap="square">
            <a:spAutoFit/>
          </a:bodyPr>
          <a:lstStyle/>
          <a:p>
            <a:pPr algn="ctr">
              <a:defRPr sz="4000" b="1" i="0">
                <a:solidFill>
                  <a:srgbClr val="FFFFFF"/>
                </a:solidFill>
                <a:latin typeface="Calibri"/>
              </a:defRPr>
            </a:pPr>
            <a:r>
              <a:t>Gracias por su atención</a:t>
            </a:r>
          </a:p>
        </p:txBody>
      </p:sp>
      <p:sp>
        <p:nvSpPr>
          <p:cNvPr id="4" name="TextBox 3"/>
          <p:cNvSpPr txBox="1"/>
          <p:nvPr/>
        </p:nvSpPr>
        <p:spPr>
          <a:xfrm>
            <a:off x="914400" y="3200400"/>
            <a:ext cx="10058400" cy="914400"/>
          </a:xfrm>
          <a:prstGeom prst="rect">
            <a:avLst/>
          </a:prstGeom>
          <a:noFill/>
        </p:spPr>
        <p:txBody>
          <a:bodyPr wrap="square">
            <a:spAutoFit/>
          </a:bodyPr>
          <a:lstStyle/>
          <a:p>
            <a:pPr algn="ctr">
              <a:defRPr sz="2800" b="0" i="1">
                <a:solidFill>
                  <a:srgbClr val="FFB90F"/>
                </a:solidFill>
                <a:latin typeface="Calibri"/>
              </a:defRPr>
            </a:pPr>
            <a:r>
              <a:t>¿Preguntas?</a:t>
            </a:r>
          </a:p>
        </p:txBody>
      </p:sp>
      <p:sp>
        <p:nvSpPr>
          <p:cNvPr id="5" name="TextBox 4"/>
          <p:cNvSpPr txBox="1"/>
          <p:nvPr/>
        </p:nvSpPr>
        <p:spPr>
          <a:xfrm>
            <a:off x="914400" y="4572000"/>
            <a:ext cx="10058400" cy="914400"/>
          </a:xfrm>
          <a:prstGeom prst="rect">
            <a:avLst/>
          </a:prstGeom>
          <a:noFill/>
        </p:spPr>
        <p:txBody>
          <a:bodyPr wrap="square">
            <a:spAutoFit/>
          </a:bodyPr>
          <a:lstStyle/>
          <a:p>
            <a:pPr algn="ctr">
              <a:defRPr sz="1600" b="0" i="0">
                <a:solidFill>
                  <a:srgbClr val="DCEBFA"/>
                </a:solidFill>
                <a:latin typeface="Calibri"/>
              </a:defRPr>
            </a:pPr>
            <a:r>
              <a:t>Alex Joan Roblero Quiros | Roberto Benavente Jimenez | Carlos Gutierrez Barrios</a:t>
            </a:r>
          </a:p>
        </p:txBody>
      </p:sp>
      <p:sp>
        <p:nvSpPr>
          <p:cNvPr id="6" name="TextBox 5"/>
          <p:cNvSpPr txBox="1"/>
          <p:nvPr/>
        </p:nvSpPr>
        <p:spPr>
          <a:xfrm>
            <a:off x="914400" y="5029200"/>
            <a:ext cx="10058400" cy="457200"/>
          </a:xfrm>
          <a:prstGeom prst="rect">
            <a:avLst/>
          </a:prstGeom>
          <a:noFill/>
        </p:spPr>
        <p:txBody>
          <a:bodyPr wrap="square">
            <a:spAutoFit/>
          </a:bodyPr>
          <a:lstStyle/>
          <a:p>
            <a:pPr algn="ctr">
              <a:defRPr sz="1400" b="0" i="0">
                <a:solidFill>
                  <a:srgbClr val="FFB90F"/>
                </a:solidFill>
                <a:latin typeface="Calibri"/>
              </a:defRPr>
            </a:pPr>
            <a:r>
              <a:t>Técnicas de Formulación de Proyectos — UNADE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