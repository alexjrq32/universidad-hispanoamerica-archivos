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6" d="100"/>
          <a:sy n="96" d="100"/>
        </p:scale>
        <p:origin x="149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26126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914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B8D4"/>
          </a:solidFill>
          <a:ln/>
        </p:spPr>
        <p:txBody>
          <a:bodyPr/>
          <a:lstStyle/>
          <a:p>
            <a:endParaRPr lang="es-CR"/>
          </a:p>
        </p:txBody>
      </p:sp>
      <p:pic>
        <p:nvPicPr>
          <p:cNvPr id="3" name="Image 0" descr="C:\Users\roble\AppData\Local\Temp\opencode\imagen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865581" y="4836380"/>
            <a:ext cx="1472979" cy="147297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914400"/>
            <a:ext cx="9144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</a:rPr>
              <a:t>GALLETAS GULLÓN</a:t>
            </a:r>
            <a:endParaRPr lang="en-US" sz="4800" dirty="0"/>
          </a:p>
        </p:txBody>
      </p:sp>
      <p:sp>
        <p:nvSpPr>
          <p:cNvPr id="5" name="Text 2"/>
          <p:cNvSpPr/>
          <p:nvPr/>
        </p:nvSpPr>
        <p:spPr>
          <a:xfrm>
            <a:off x="1371600" y="201168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00B8D4"/>
                </a:solidFill>
              </a:rPr>
              <a:t>Transformación Digital en la Cadena de Suministro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1371600" y="2926080"/>
            <a:ext cx="2743200" cy="36576"/>
          </a:xfrm>
          <a:prstGeom prst="rect">
            <a:avLst/>
          </a:prstGeom>
          <a:solidFill>
            <a:srgbClr val="00B8D4"/>
          </a:solidFill>
          <a:ln/>
        </p:spPr>
        <p:txBody>
          <a:bodyPr/>
          <a:lstStyle/>
          <a:p>
            <a:endParaRPr lang="es-CR"/>
          </a:p>
        </p:txBody>
      </p:sp>
      <p:sp>
        <p:nvSpPr>
          <p:cNvPr id="7" name="Shape 4"/>
          <p:cNvSpPr/>
          <p:nvPr/>
        </p:nvSpPr>
        <p:spPr>
          <a:xfrm>
            <a:off x="1371600" y="3291840"/>
            <a:ext cx="2286000" cy="640080"/>
          </a:xfrm>
          <a:prstGeom prst="roundRect">
            <a:avLst>
              <a:gd name="adj" fmla="val 14286"/>
            </a:avLst>
          </a:prstGeom>
          <a:solidFill>
            <a:srgbClr val="111F2E"/>
          </a:solidFill>
          <a:ln/>
        </p:spPr>
        <p:txBody>
          <a:bodyPr/>
          <a:lstStyle/>
          <a:p>
            <a:endParaRPr lang="es-CR"/>
          </a:p>
        </p:txBody>
      </p:sp>
      <p:sp>
        <p:nvSpPr>
          <p:cNvPr id="8" name="Text 5"/>
          <p:cNvSpPr/>
          <p:nvPr/>
        </p:nvSpPr>
        <p:spPr>
          <a:xfrm>
            <a:off x="1371600" y="333756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D49E"/>
                </a:solidFill>
              </a:rPr>
              <a:t>📦 Logística 4.0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3931920" y="3291840"/>
            <a:ext cx="2286000" cy="640080"/>
          </a:xfrm>
          <a:prstGeom prst="roundRect">
            <a:avLst>
              <a:gd name="adj" fmla="val 14286"/>
            </a:avLst>
          </a:prstGeom>
          <a:solidFill>
            <a:srgbClr val="111F2E"/>
          </a:solidFill>
          <a:ln/>
        </p:spPr>
        <p:txBody>
          <a:bodyPr/>
          <a:lstStyle/>
          <a:p>
            <a:endParaRPr lang="es-CR"/>
          </a:p>
        </p:txBody>
      </p:sp>
      <p:sp>
        <p:nvSpPr>
          <p:cNvPr id="10" name="Text 7"/>
          <p:cNvSpPr/>
          <p:nvPr/>
        </p:nvSpPr>
        <p:spPr>
          <a:xfrm>
            <a:off x="3931920" y="333756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D49E"/>
                </a:solidFill>
              </a:rPr>
              <a:t>🤖 Automatización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6492240" y="3291840"/>
            <a:ext cx="2286000" cy="640080"/>
          </a:xfrm>
          <a:prstGeom prst="roundRect">
            <a:avLst>
              <a:gd name="adj" fmla="val 14286"/>
            </a:avLst>
          </a:prstGeom>
          <a:solidFill>
            <a:srgbClr val="111F2E"/>
          </a:solidFill>
          <a:ln/>
        </p:spPr>
        <p:txBody>
          <a:bodyPr/>
          <a:lstStyle/>
          <a:p>
            <a:endParaRPr lang="es-CR"/>
          </a:p>
        </p:txBody>
      </p:sp>
      <p:sp>
        <p:nvSpPr>
          <p:cNvPr id="12" name="Text 9"/>
          <p:cNvSpPr/>
          <p:nvPr/>
        </p:nvSpPr>
        <p:spPr>
          <a:xfrm>
            <a:off x="6492240" y="333756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D49E"/>
                </a:solidFill>
              </a:rPr>
              <a:t>📊 Impacto Estratégico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9052560" y="3291840"/>
            <a:ext cx="2286000" cy="640080"/>
          </a:xfrm>
          <a:prstGeom prst="roundRect">
            <a:avLst>
              <a:gd name="adj" fmla="val 14286"/>
            </a:avLst>
          </a:prstGeom>
          <a:solidFill>
            <a:srgbClr val="111F2E"/>
          </a:solidFill>
          <a:ln/>
        </p:spPr>
        <p:txBody>
          <a:bodyPr/>
          <a:lstStyle/>
          <a:p>
            <a:endParaRPr lang="es-CR"/>
          </a:p>
        </p:txBody>
      </p:sp>
      <p:sp>
        <p:nvSpPr>
          <p:cNvPr id="14" name="Text 11"/>
          <p:cNvSpPr/>
          <p:nvPr/>
        </p:nvSpPr>
        <p:spPr>
          <a:xfrm>
            <a:off x="9052560" y="333756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D49E"/>
                </a:solidFill>
              </a:rPr>
              <a:t>🏗️ Arquitectura SAP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1371600" y="49377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8B9DB5"/>
                </a:solidFill>
              </a:rPr>
              <a:t>Industria 4.0 · Automatización · Sostenibilidad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1371600" y="566928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 err="1">
                <a:solidFill>
                  <a:srgbClr val="8B9DB5"/>
                </a:solidFill>
              </a:rPr>
              <a:t>NexBI</a:t>
            </a:r>
            <a:r>
              <a:rPr lang="en-US" sz="1400" dirty="0">
                <a:solidFill>
                  <a:srgbClr val="8B9DB5"/>
                </a:solidFill>
              </a:rPr>
              <a:t> Analytics · Universidad Hispanoamérica · 2026</a:t>
            </a:r>
            <a:endParaRPr lang="en-US" sz="14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914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B8D4"/>
          </a:solidFill>
          <a:ln/>
        </p:spPr>
        <p:txBody>
          <a:bodyPr/>
          <a:lstStyle/>
          <a:p>
            <a:endParaRPr lang="es-CR"/>
          </a:p>
        </p:txBody>
      </p:sp>
      <p:pic>
        <p:nvPicPr>
          <p:cNvPr id="3" name="Image 0" descr="C:\Users\roble\AppData\Local\Temp\opencode\imagen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316817" y="203553"/>
            <a:ext cx="838863" cy="83886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</a:rPr>
              <a:t>DEL DOLOR LOGÍSTICO A LA INDUSTRIA 4.0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731520" y="1005840"/>
            <a:ext cx="2286000" cy="36576"/>
          </a:xfrm>
          <a:prstGeom prst="rect">
            <a:avLst/>
          </a:prstGeom>
          <a:solidFill>
            <a:srgbClr val="00B8D4"/>
          </a:solidFill>
          <a:ln/>
        </p:spPr>
        <p:txBody>
          <a:bodyPr/>
          <a:lstStyle/>
          <a:p>
            <a:endParaRPr lang="es-CR"/>
          </a:p>
        </p:txBody>
      </p:sp>
      <p:sp>
        <p:nvSpPr>
          <p:cNvPr id="6" name="Shape 3"/>
          <p:cNvSpPr/>
          <p:nvPr/>
        </p:nvSpPr>
        <p:spPr>
          <a:xfrm>
            <a:off x="731520" y="1371600"/>
            <a:ext cx="5029200" cy="5029200"/>
          </a:xfrm>
          <a:prstGeom prst="roundRect">
            <a:avLst>
              <a:gd name="adj" fmla="val 2727"/>
            </a:avLst>
          </a:prstGeom>
          <a:solidFill>
            <a:srgbClr val="111F2E"/>
          </a:solidFill>
          <a:ln/>
        </p:spPr>
        <p:txBody>
          <a:bodyPr/>
          <a:lstStyle/>
          <a:p>
            <a:endParaRPr lang="es-CR"/>
          </a:p>
        </p:txBody>
      </p:sp>
      <p:sp>
        <p:nvSpPr>
          <p:cNvPr id="7" name="Text 4"/>
          <p:cNvSpPr/>
          <p:nvPr/>
        </p:nvSpPr>
        <p:spPr>
          <a:xfrm>
            <a:off x="1097280" y="155448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B8D4"/>
                </a:solidFill>
              </a:rPr>
              <a:t>⚡ El Dolor Logístico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1097280" y="2194560"/>
            <a:ext cx="41148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8B9DB5"/>
                </a:solidFill>
              </a:rPr>
              <a:t>▸ Almacén colapsado: 19.000 → 57.000 palés</a:t>
            </a:r>
            <a:endParaRPr lang="en-US" sz="14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8B9DB5"/>
                </a:solidFill>
              </a:rPr>
              <a:t>▸ Crecimiento exportaciones a +120 países</a:t>
            </a:r>
            <a:endParaRPr lang="en-US" sz="14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8B9DB5"/>
                </a:solidFill>
              </a:rPr>
              <a:t>▸ Registros en papel → sin datos en tiempo real</a:t>
            </a:r>
            <a:endParaRPr lang="en-US" sz="14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8B9DB5"/>
                </a:solidFill>
              </a:rPr>
              <a:t>▸ Cuello de botella en trazabilidad del producto</a:t>
            </a:r>
            <a:endParaRPr lang="en-US" sz="14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800" dirty="0">
                <a:solidFill>
                  <a:srgbClr val="8B9DB5"/>
                </a:solidFill>
              </a:rPr>
              <a:t> </a:t>
            </a:r>
            <a:endParaRPr lang="en-US" sz="14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2200" b="1" dirty="0">
                <a:solidFill>
                  <a:srgbClr val="00B8D4"/>
                </a:solidFill>
              </a:rPr>
              <a:t>🤖 Tecnología Aplicada</a:t>
            </a:r>
            <a:endParaRPr lang="en-US" sz="14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8B9DB5"/>
                </a:solidFill>
              </a:rPr>
              <a:t>▸ Almacén robótico automatizado (picking ciego)</a:t>
            </a:r>
            <a:endParaRPr lang="en-US" sz="14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8B9DB5"/>
                </a:solidFill>
              </a:rPr>
              <a:t>▸ Sistema MES (Mapex) — 0% papel en planta</a:t>
            </a:r>
            <a:endParaRPr lang="en-US" sz="14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8B9DB5"/>
                </a:solidFill>
              </a:rPr>
              <a:t>▸ Impresión 3D Ultimaker — repuestos TPU</a:t>
            </a:r>
            <a:endParaRPr lang="en-US" sz="14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8B9DB5"/>
                </a:solidFill>
              </a:rPr>
              <a:t>▸ SCADA Siemens + PLCs en líneas de amasado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217920" y="1371600"/>
            <a:ext cx="5303520" cy="2286000"/>
          </a:xfrm>
          <a:prstGeom prst="roundRect">
            <a:avLst>
              <a:gd name="adj" fmla="val 6000"/>
            </a:avLst>
          </a:prstGeom>
          <a:solidFill>
            <a:srgbClr val="111F2E"/>
          </a:solidFill>
          <a:ln/>
        </p:spPr>
        <p:txBody>
          <a:bodyPr/>
          <a:lstStyle/>
          <a:p>
            <a:endParaRPr lang="es-CR"/>
          </a:p>
        </p:txBody>
      </p:sp>
      <p:sp>
        <p:nvSpPr>
          <p:cNvPr id="10" name="Text 7"/>
          <p:cNvSpPr/>
          <p:nvPr/>
        </p:nvSpPr>
        <p:spPr>
          <a:xfrm>
            <a:off x="6583680" y="155448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B8D4"/>
                </a:solidFill>
              </a:rPr>
              <a:t>🚛 Innovación en Transporte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6583680" y="2103120"/>
            <a:ext cx="45720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8B9DB5"/>
                </a:solidFill>
              </a:rPr>
              <a:t>▸ Duo-trailers: -30% CO₂ por trayecto</a:t>
            </a:r>
            <a:endParaRPr lang="en-US" sz="14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8B9DB5"/>
                </a:solidFill>
              </a:rPr>
              <a:t>▸ Auditoría de Huella de Carbono (Alcance 3)</a:t>
            </a:r>
            <a:endParaRPr lang="en-US" sz="14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8B9DB5"/>
                </a:solidFill>
              </a:rPr>
              <a:t>▸ Optimización de carga y rutas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6217920" y="3931920"/>
            <a:ext cx="1188720" cy="1463040"/>
          </a:xfrm>
          <a:prstGeom prst="roundRect">
            <a:avLst>
              <a:gd name="adj" fmla="val 7692"/>
            </a:avLst>
          </a:prstGeom>
          <a:solidFill>
            <a:srgbClr val="0A2A33"/>
          </a:solidFill>
          <a:ln/>
        </p:spPr>
        <p:txBody>
          <a:bodyPr/>
          <a:lstStyle/>
          <a:p>
            <a:endParaRPr lang="es-CR"/>
          </a:p>
        </p:txBody>
      </p:sp>
      <p:sp>
        <p:nvSpPr>
          <p:cNvPr id="13" name="Text 10"/>
          <p:cNvSpPr/>
          <p:nvPr/>
        </p:nvSpPr>
        <p:spPr>
          <a:xfrm>
            <a:off x="6217920" y="4114800"/>
            <a:ext cx="1188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D49E"/>
                </a:solidFill>
              </a:rPr>
              <a:t>19K</a:t>
            </a:r>
            <a:endParaRPr lang="en-US" sz="2800" dirty="0"/>
          </a:p>
        </p:txBody>
      </p:sp>
      <p:sp>
        <p:nvSpPr>
          <p:cNvPr id="14" name="Text 11"/>
          <p:cNvSpPr/>
          <p:nvPr/>
        </p:nvSpPr>
        <p:spPr>
          <a:xfrm>
            <a:off x="6217920" y="466344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9DB5"/>
                </a:solidFill>
              </a:rPr>
              <a:t>Palés actuales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7543800" y="3931920"/>
            <a:ext cx="1188720" cy="1463040"/>
          </a:xfrm>
          <a:prstGeom prst="roundRect">
            <a:avLst>
              <a:gd name="adj" fmla="val 7692"/>
            </a:avLst>
          </a:prstGeom>
          <a:solidFill>
            <a:srgbClr val="0A2A33"/>
          </a:solidFill>
          <a:ln/>
        </p:spPr>
        <p:txBody>
          <a:bodyPr/>
          <a:lstStyle/>
          <a:p>
            <a:endParaRPr lang="es-CR"/>
          </a:p>
        </p:txBody>
      </p:sp>
      <p:sp>
        <p:nvSpPr>
          <p:cNvPr id="16" name="Text 13"/>
          <p:cNvSpPr/>
          <p:nvPr/>
        </p:nvSpPr>
        <p:spPr>
          <a:xfrm>
            <a:off x="7543800" y="4114800"/>
            <a:ext cx="1188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D49E"/>
                </a:solidFill>
              </a:rPr>
              <a:t>57K</a:t>
            </a:r>
            <a:endParaRPr lang="en-US" sz="2800" dirty="0"/>
          </a:p>
        </p:txBody>
      </p:sp>
      <p:sp>
        <p:nvSpPr>
          <p:cNvPr id="17" name="Text 14"/>
          <p:cNvSpPr/>
          <p:nvPr/>
        </p:nvSpPr>
        <p:spPr>
          <a:xfrm>
            <a:off x="7543800" y="466344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9DB5"/>
                </a:solidFill>
              </a:rPr>
              <a:t>Palés objetivo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8869680" y="3931920"/>
            <a:ext cx="1188720" cy="1463040"/>
          </a:xfrm>
          <a:prstGeom prst="roundRect">
            <a:avLst>
              <a:gd name="adj" fmla="val 7692"/>
            </a:avLst>
          </a:prstGeom>
          <a:solidFill>
            <a:srgbClr val="0A2A33"/>
          </a:solidFill>
          <a:ln/>
        </p:spPr>
        <p:txBody>
          <a:bodyPr/>
          <a:lstStyle/>
          <a:p>
            <a:endParaRPr lang="es-CR"/>
          </a:p>
        </p:txBody>
      </p:sp>
      <p:sp>
        <p:nvSpPr>
          <p:cNvPr id="19" name="Text 16"/>
          <p:cNvSpPr/>
          <p:nvPr/>
        </p:nvSpPr>
        <p:spPr>
          <a:xfrm>
            <a:off x="8869680" y="4114800"/>
            <a:ext cx="1188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D49E"/>
                </a:solidFill>
              </a:rPr>
              <a:t>-30%</a:t>
            </a:r>
            <a:endParaRPr lang="en-US" sz="2800" dirty="0"/>
          </a:p>
        </p:txBody>
      </p:sp>
      <p:sp>
        <p:nvSpPr>
          <p:cNvPr id="20" name="Text 17"/>
          <p:cNvSpPr/>
          <p:nvPr/>
        </p:nvSpPr>
        <p:spPr>
          <a:xfrm>
            <a:off x="8869680" y="466344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9DB5"/>
                </a:solidFill>
              </a:rPr>
              <a:t>CO₂ por viaje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10195560" y="3931920"/>
            <a:ext cx="1188720" cy="1463040"/>
          </a:xfrm>
          <a:prstGeom prst="roundRect">
            <a:avLst>
              <a:gd name="adj" fmla="val 7692"/>
            </a:avLst>
          </a:prstGeom>
          <a:solidFill>
            <a:srgbClr val="0A2A33"/>
          </a:solidFill>
          <a:ln/>
        </p:spPr>
        <p:txBody>
          <a:bodyPr/>
          <a:lstStyle/>
          <a:p>
            <a:endParaRPr lang="es-CR"/>
          </a:p>
        </p:txBody>
      </p:sp>
      <p:sp>
        <p:nvSpPr>
          <p:cNvPr id="22" name="Text 19"/>
          <p:cNvSpPr/>
          <p:nvPr/>
        </p:nvSpPr>
        <p:spPr>
          <a:xfrm>
            <a:off x="10195560" y="4114800"/>
            <a:ext cx="1188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D49E"/>
                </a:solidFill>
              </a:rPr>
              <a:t>0%</a:t>
            </a:r>
            <a:endParaRPr lang="en-US" sz="2800" dirty="0"/>
          </a:p>
        </p:txBody>
      </p:sp>
      <p:sp>
        <p:nvSpPr>
          <p:cNvPr id="23" name="Text 20"/>
          <p:cNvSpPr/>
          <p:nvPr/>
        </p:nvSpPr>
        <p:spPr>
          <a:xfrm>
            <a:off x="10195560" y="466344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9DB5"/>
                </a:solidFill>
              </a:rPr>
              <a:t>Papel en planta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6217920" y="5577840"/>
            <a:ext cx="5303520" cy="822960"/>
          </a:xfrm>
          <a:prstGeom prst="roundRect">
            <a:avLst>
              <a:gd name="adj" fmla="val 11111"/>
            </a:avLst>
          </a:prstGeom>
          <a:solidFill>
            <a:srgbClr val="0A2A33"/>
          </a:solidFill>
          <a:ln/>
        </p:spPr>
        <p:txBody>
          <a:bodyPr/>
          <a:lstStyle/>
          <a:p>
            <a:endParaRPr lang="es-CR"/>
          </a:p>
        </p:txBody>
      </p:sp>
      <p:sp>
        <p:nvSpPr>
          <p:cNvPr id="25" name="Text 22"/>
          <p:cNvSpPr/>
          <p:nvPr/>
        </p:nvSpPr>
        <p:spPr>
          <a:xfrm>
            <a:off x="6400800" y="5669280"/>
            <a:ext cx="4937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B8D4"/>
                </a:solidFill>
              </a:rPr>
              <a:t>💡 La tecnología no es un gasto, es la única forma de escalar</a:t>
            </a:r>
            <a:endParaRPr lang="en-US" sz="14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914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B8D4"/>
          </a:solidFill>
          <a:ln/>
        </p:spPr>
        <p:txBody>
          <a:bodyPr/>
          <a:lstStyle/>
          <a:p>
            <a:endParaRPr lang="es-CR"/>
          </a:p>
        </p:txBody>
      </p:sp>
      <p:pic>
        <p:nvPicPr>
          <p:cNvPr id="3" name="Image 0" descr="C:\Users\roble\AppData\Local\Temp\opencode\imagen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277856" y="219456"/>
            <a:ext cx="877824" cy="87782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</a:rPr>
              <a:t>RESULTADOS + RECOMENDACIÓN TÉCNICA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731520" y="1005840"/>
            <a:ext cx="2286000" cy="36576"/>
          </a:xfrm>
          <a:prstGeom prst="rect">
            <a:avLst/>
          </a:prstGeom>
          <a:solidFill>
            <a:srgbClr val="00B8D4"/>
          </a:solidFill>
          <a:ln/>
        </p:spPr>
        <p:txBody>
          <a:bodyPr/>
          <a:lstStyle/>
          <a:p>
            <a:endParaRPr lang="es-CR"/>
          </a:p>
        </p:txBody>
      </p:sp>
      <p:sp>
        <p:nvSpPr>
          <p:cNvPr id="6" name="Shape 3"/>
          <p:cNvSpPr/>
          <p:nvPr/>
        </p:nvSpPr>
        <p:spPr>
          <a:xfrm>
            <a:off x="731520" y="1371600"/>
            <a:ext cx="3474720" cy="1371600"/>
          </a:xfrm>
          <a:prstGeom prst="roundRect">
            <a:avLst>
              <a:gd name="adj" fmla="val 10000"/>
            </a:avLst>
          </a:prstGeom>
          <a:solidFill>
            <a:srgbClr val="111F2E"/>
          </a:solidFill>
          <a:ln/>
        </p:spPr>
        <p:txBody>
          <a:bodyPr/>
          <a:lstStyle/>
          <a:p>
            <a:endParaRPr lang="es-CR"/>
          </a:p>
        </p:txBody>
      </p:sp>
      <p:sp>
        <p:nvSpPr>
          <p:cNvPr id="7" name="Text 4"/>
          <p:cNvSpPr/>
          <p:nvPr/>
        </p:nvSpPr>
        <p:spPr>
          <a:xfrm>
            <a:off x="914400" y="146304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D49E"/>
                </a:solidFill>
              </a:rPr>
              <a:t>750M€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914400" y="210312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8B9DB5"/>
                </a:solidFill>
              </a:rPr>
              <a:t>Facturación récord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572000" y="1371600"/>
            <a:ext cx="3474720" cy="1371600"/>
          </a:xfrm>
          <a:prstGeom prst="roundRect">
            <a:avLst>
              <a:gd name="adj" fmla="val 10000"/>
            </a:avLst>
          </a:prstGeom>
          <a:solidFill>
            <a:srgbClr val="111F2E"/>
          </a:solidFill>
          <a:ln/>
        </p:spPr>
        <p:txBody>
          <a:bodyPr/>
          <a:lstStyle/>
          <a:p>
            <a:endParaRPr lang="es-CR"/>
          </a:p>
        </p:txBody>
      </p:sp>
      <p:sp>
        <p:nvSpPr>
          <p:cNvPr id="10" name="Text 7"/>
          <p:cNvSpPr/>
          <p:nvPr/>
        </p:nvSpPr>
        <p:spPr>
          <a:xfrm>
            <a:off x="4754880" y="146304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D49E"/>
                </a:solidFill>
              </a:rPr>
              <a:t>4,37€ → 1,08€</a:t>
            </a:r>
            <a:endParaRPr lang="en-US" sz="2800" dirty="0"/>
          </a:p>
        </p:txBody>
      </p:sp>
      <p:sp>
        <p:nvSpPr>
          <p:cNvPr id="11" name="Text 8"/>
          <p:cNvSpPr/>
          <p:nvPr/>
        </p:nvSpPr>
        <p:spPr>
          <a:xfrm>
            <a:off x="4754880" y="210312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8B9DB5"/>
                </a:solidFill>
              </a:rPr>
              <a:t>Ahorro por pieza 3D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8412480" y="1371600"/>
            <a:ext cx="3474720" cy="1371600"/>
          </a:xfrm>
          <a:prstGeom prst="roundRect">
            <a:avLst>
              <a:gd name="adj" fmla="val 10000"/>
            </a:avLst>
          </a:prstGeom>
          <a:solidFill>
            <a:srgbClr val="111F2E"/>
          </a:solidFill>
          <a:ln/>
        </p:spPr>
        <p:txBody>
          <a:bodyPr/>
          <a:lstStyle/>
          <a:p>
            <a:endParaRPr lang="es-CR"/>
          </a:p>
        </p:txBody>
      </p:sp>
      <p:sp>
        <p:nvSpPr>
          <p:cNvPr id="13" name="Text 10"/>
          <p:cNvSpPr/>
          <p:nvPr/>
        </p:nvSpPr>
        <p:spPr>
          <a:xfrm>
            <a:off x="8595360" y="146304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D49E"/>
                </a:solidFill>
              </a:rPr>
              <a:t>+120</a:t>
            </a:r>
            <a:endParaRPr lang="en-US" sz="2800" dirty="0"/>
          </a:p>
        </p:txBody>
      </p:sp>
      <p:sp>
        <p:nvSpPr>
          <p:cNvPr id="14" name="Text 11"/>
          <p:cNvSpPr/>
          <p:nvPr/>
        </p:nvSpPr>
        <p:spPr>
          <a:xfrm>
            <a:off x="8595360" y="210312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8B9DB5"/>
                </a:solidFill>
              </a:rPr>
              <a:t>Países exporta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731520" y="3017520"/>
            <a:ext cx="5029200" cy="3474720"/>
          </a:xfrm>
          <a:prstGeom prst="roundRect">
            <a:avLst>
              <a:gd name="adj" fmla="val 3947"/>
            </a:avLst>
          </a:prstGeom>
          <a:solidFill>
            <a:srgbClr val="111F2E"/>
          </a:solidFill>
          <a:ln/>
        </p:spPr>
        <p:txBody>
          <a:bodyPr/>
          <a:lstStyle/>
          <a:p>
            <a:endParaRPr lang="es-CR"/>
          </a:p>
        </p:txBody>
      </p:sp>
      <p:sp>
        <p:nvSpPr>
          <p:cNvPr id="16" name="Text 13"/>
          <p:cNvSpPr/>
          <p:nvPr/>
        </p:nvSpPr>
        <p:spPr>
          <a:xfrm>
            <a:off x="1097280" y="32004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B8D4"/>
                </a:solidFill>
              </a:rPr>
              <a:t>📈 Impacto Estratégico</a:t>
            </a:r>
            <a:endParaRPr lang="en-US" sz="2200" dirty="0"/>
          </a:p>
        </p:txBody>
      </p:sp>
      <p:sp>
        <p:nvSpPr>
          <p:cNvPr id="17" name="Text 14"/>
          <p:cNvSpPr/>
          <p:nvPr/>
        </p:nvSpPr>
        <p:spPr>
          <a:xfrm>
            <a:off x="1097280" y="3840480"/>
            <a:ext cx="45720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8B9DB5"/>
                </a:solidFill>
              </a:rPr>
              <a:t>▸ Clientes más satisfechos con entregas optimizadas</a:t>
            </a:r>
            <a:endParaRPr lang="en-US" sz="14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8B9DB5"/>
                </a:solidFill>
              </a:rPr>
              <a:t>▸ Almacén climatizado para productos sensibles</a:t>
            </a:r>
            <a:endParaRPr lang="en-US" sz="14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8B9DB5"/>
                </a:solidFill>
              </a:rPr>
              <a:t>▸ MES detecta causas ocultas de paros en línea</a:t>
            </a:r>
            <a:endParaRPr lang="en-US" sz="14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8B9DB5"/>
                </a:solidFill>
              </a:rPr>
              <a:t>▸ Toma de decisiones basada en datos fiables</a:t>
            </a:r>
            <a:endParaRPr lang="en-US" sz="14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8B9DB5"/>
                </a:solidFill>
              </a:rPr>
              <a:t>▸ Reconocida como 'Mejor Empresa 4.0'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6217920" y="3017520"/>
            <a:ext cx="5303520" cy="3474720"/>
          </a:xfrm>
          <a:prstGeom prst="roundRect">
            <a:avLst>
              <a:gd name="adj" fmla="val 3947"/>
            </a:avLst>
          </a:prstGeom>
          <a:solidFill>
            <a:srgbClr val="111F2E"/>
          </a:solidFill>
          <a:ln/>
        </p:spPr>
        <p:txBody>
          <a:bodyPr/>
          <a:lstStyle/>
          <a:p>
            <a:endParaRPr lang="es-CR"/>
          </a:p>
        </p:txBody>
      </p:sp>
      <p:sp>
        <p:nvSpPr>
          <p:cNvPr id="19" name="Text 16"/>
          <p:cNvSpPr/>
          <p:nvPr/>
        </p:nvSpPr>
        <p:spPr>
          <a:xfrm>
            <a:off x="6583680" y="32004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B8D4"/>
                </a:solidFill>
              </a:rPr>
              <a:t>🏗️ Recomendación: SAP S/4HANA</a:t>
            </a:r>
            <a:endParaRPr lang="en-US" sz="2200" dirty="0"/>
          </a:p>
        </p:txBody>
      </p:sp>
      <p:sp>
        <p:nvSpPr>
          <p:cNvPr id="20" name="Text 17"/>
          <p:cNvSpPr/>
          <p:nvPr/>
        </p:nvSpPr>
        <p:spPr>
          <a:xfrm>
            <a:off x="6583680" y="3840480"/>
            <a:ext cx="45720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8B9DB5"/>
                </a:solidFill>
              </a:rPr>
              <a:t>▸ Integración nativa con SAP SuccessFactors (RRHH)</a:t>
            </a:r>
            <a:endParaRPr lang="en-US" sz="14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8B9DB5"/>
                </a:solidFill>
              </a:rPr>
              <a:t>▸ Asset Intelligence + conexión con MES (ISA-95)</a:t>
            </a:r>
            <a:endParaRPr lang="en-US" sz="14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8B9DB5"/>
                </a:solidFill>
              </a:rPr>
              <a:t>▸ Visibilidad global de SCM en +120 países</a:t>
            </a:r>
            <a:endParaRPr lang="en-US" sz="14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8B9DB5"/>
                </a:solidFill>
              </a:rPr>
              <a:t>▸ Módulos de sostenibilidad y huella de carbono</a:t>
            </a:r>
            <a:endParaRPr lang="en-US" sz="14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8B9DB5"/>
                </a:solidFill>
              </a:rPr>
              <a:t>▸ Meta: Carbono Neutral antes de 2050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691763" y="6768945"/>
            <a:ext cx="10789920" cy="18288"/>
          </a:xfrm>
          <a:prstGeom prst="rect">
            <a:avLst/>
          </a:prstGeom>
          <a:solidFill>
            <a:srgbClr val="00B8D4"/>
          </a:solidFill>
          <a:ln/>
        </p:spPr>
        <p:txBody>
          <a:bodyPr/>
          <a:lstStyle/>
          <a:p>
            <a:endParaRPr lang="es-CR"/>
          </a:p>
        </p:txBody>
      </p:sp>
      <p:sp>
        <p:nvSpPr>
          <p:cNvPr id="22" name="Text 19"/>
          <p:cNvSpPr/>
          <p:nvPr/>
        </p:nvSpPr>
        <p:spPr>
          <a:xfrm>
            <a:off x="731520" y="6409944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B9DB5"/>
                </a:solidFill>
              </a:rPr>
              <a:t>Gullón: 133 años de historia · 750M€ facturación · Industria 4.0 · Carbono Neutral 2050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311</Words>
  <Application>Microsoft Office PowerPoint</Application>
  <PresentationFormat>Panorámica</PresentationFormat>
  <Paragraphs>56</Paragraphs>
  <Slides>3</Slides>
  <Notes>3</Notes>
  <HiddenSlides>0</HiddenSlides>
  <MMClips>0</MMClips>
  <ScaleCrop>false</ScaleCrop>
  <HeadingPairs>
    <vt:vector size="6" baseType="variant">
      <vt:variant>
        <vt:lpstr>Fuentes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</vt:i4>
      </vt:variant>
    </vt:vector>
  </HeadingPairs>
  <TitlesOfParts>
    <vt:vector size="5" baseType="lpstr">
      <vt:lpstr>Arial</vt:lpstr>
      <vt:lpstr>Office Theme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Alex Roblero</cp:lastModifiedBy>
  <cp:revision>5</cp:revision>
  <dcterms:created xsi:type="dcterms:W3CDTF">2026-06-17T02:35:51Z</dcterms:created>
  <dcterms:modified xsi:type="dcterms:W3CDTF">2026-06-17T03:00:52Z</dcterms:modified>
</cp:coreProperties>
</file>