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6858000" type="screen4x3"/>
  <p:notesSz cx="6858000" cy="9144000"/>
  <p:defaultTextStyle>
    <a:lvl1pPr>
      <a:buClr>
        <a:srgbClr val="000000"/>
      </a:buClr>
      <a:defRPr>
        <a:uFill>
          <a:solidFill/>
        </a:uFill>
        <a:latin typeface="+mn-lt"/>
        <a:ea typeface="+mn-ea"/>
        <a:cs typeface="+mn-cs"/>
        <a:sym typeface="Calibri"/>
      </a:defRPr>
    </a:lvl1pPr>
    <a:lvl2pPr indent="342900">
      <a:buClr>
        <a:srgbClr val="000000"/>
      </a:buClr>
      <a:defRPr>
        <a:uFill>
          <a:solidFill/>
        </a:uFill>
        <a:latin typeface="+mn-lt"/>
        <a:ea typeface="+mn-ea"/>
        <a:cs typeface="+mn-cs"/>
        <a:sym typeface="Calibri"/>
      </a:defRPr>
    </a:lvl2pPr>
    <a:lvl3pPr indent="685800">
      <a:buClr>
        <a:srgbClr val="000000"/>
      </a:buClr>
      <a:defRPr>
        <a:uFill>
          <a:solidFill/>
        </a:uFill>
        <a:latin typeface="+mn-lt"/>
        <a:ea typeface="+mn-ea"/>
        <a:cs typeface="+mn-cs"/>
        <a:sym typeface="Calibri"/>
      </a:defRPr>
    </a:lvl3pPr>
    <a:lvl4pPr indent="1028700">
      <a:buClr>
        <a:srgbClr val="000000"/>
      </a:buClr>
      <a:defRPr>
        <a:uFill>
          <a:solidFill/>
        </a:uFill>
        <a:latin typeface="+mn-lt"/>
        <a:ea typeface="+mn-ea"/>
        <a:cs typeface="+mn-cs"/>
        <a:sym typeface="Calibri"/>
      </a:defRPr>
    </a:lvl4pPr>
    <a:lvl5pPr indent="1371600">
      <a:buClr>
        <a:srgbClr val="000000"/>
      </a:buClr>
      <a:defRPr>
        <a:uFill>
          <a:solidFill/>
        </a:uFill>
        <a:latin typeface="+mn-lt"/>
        <a:ea typeface="+mn-ea"/>
        <a:cs typeface="+mn-cs"/>
        <a:sym typeface="Calibri"/>
      </a:defRPr>
    </a:lvl5pPr>
    <a:lvl6pPr indent="1714500">
      <a:buClr>
        <a:srgbClr val="000000"/>
      </a:buClr>
      <a:defRPr>
        <a:uFill>
          <a:solidFill/>
        </a:uFill>
        <a:latin typeface="+mn-lt"/>
        <a:ea typeface="+mn-ea"/>
        <a:cs typeface="+mn-cs"/>
        <a:sym typeface="Calibri"/>
      </a:defRPr>
    </a:lvl6pPr>
    <a:lvl7pPr indent="2057400">
      <a:buClr>
        <a:srgbClr val="000000"/>
      </a:buClr>
      <a:defRPr>
        <a:uFill>
          <a:solidFill/>
        </a:uFill>
        <a:latin typeface="+mn-lt"/>
        <a:ea typeface="+mn-ea"/>
        <a:cs typeface="+mn-cs"/>
        <a:sym typeface="Calibri"/>
      </a:defRPr>
    </a:lvl7pPr>
    <a:lvl8pPr indent="2400300">
      <a:buClr>
        <a:srgbClr val="000000"/>
      </a:buClr>
      <a:defRPr>
        <a:uFill>
          <a:solidFill/>
        </a:uFill>
        <a:latin typeface="+mn-lt"/>
        <a:ea typeface="+mn-ea"/>
        <a:cs typeface="+mn-cs"/>
        <a:sym typeface="Calibri"/>
      </a:defRPr>
    </a:lvl8pPr>
    <a:lvl9pPr indent="2743200">
      <a:buClr>
        <a:srgbClr val="000000"/>
      </a:buClr>
      <a:defRPr>
        <a:uFill>
          <a:solidFill/>
        </a:uFill>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AF4"/>
          </a:solidFill>
        </a:fill>
      </a:tcStyle>
    </a:wholeTbl>
    <a:band2H>
      <a:tcTxStyle/>
      <a:tcStyle>
        <a:tcBdr/>
        <a:fill>
          <a:solidFill>
            <a:srgbClr val="F1F5FA"/>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Shape 15"/>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6" name="Shape 16"/>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a:defRPr sz="1200">
        <a:uFill>
          <a:solidFill/>
        </a:uFill>
        <a:latin typeface="+mn-lt"/>
        <a:ea typeface="+mn-ea"/>
        <a:cs typeface="+mn-cs"/>
        <a:sym typeface="Calibri"/>
      </a:defRPr>
    </a:lvl1pPr>
    <a:lvl2pPr indent="228600">
      <a:defRPr sz="1200">
        <a:uFill>
          <a:solidFill/>
        </a:uFill>
        <a:latin typeface="+mn-lt"/>
        <a:ea typeface="+mn-ea"/>
        <a:cs typeface="+mn-cs"/>
        <a:sym typeface="Calibri"/>
      </a:defRPr>
    </a:lvl2pPr>
    <a:lvl3pPr indent="457200">
      <a:defRPr sz="1200">
        <a:uFill>
          <a:solidFill/>
        </a:uFill>
        <a:latin typeface="+mn-lt"/>
        <a:ea typeface="+mn-ea"/>
        <a:cs typeface="+mn-cs"/>
        <a:sym typeface="Calibri"/>
      </a:defRPr>
    </a:lvl3pPr>
    <a:lvl4pPr indent="685800">
      <a:defRPr sz="1200">
        <a:uFill>
          <a:solidFill/>
        </a:uFill>
        <a:latin typeface="+mn-lt"/>
        <a:ea typeface="+mn-ea"/>
        <a:cs typeface="+mn-cs"/>
        <a:sym typeface="Calibri"/>
      </a:defRPr>
    </a:lvl4pPr>
    <a:lvl5pPr indent="914400">
      <a:defRPr sz="1200">
        <a:uFill>
          <a:solidFill/>
        </a:uFill>
        <a:latin typeface="+mn-lt"/>
        <a:ea typeface="+mn-ea"/>
        <a:cs typeface="+mn-cs"/>
        <a:sym typeface="Calibri"/>
      </a:defRPr>
    </a:lvl5pPr>
    <a:lvl6pPr indent="1143000">
      <a:defRPr sz="1200">
        <a:uFill>
          <a:solidFill/>
        </a:uFill>
        <a:latin typeface="+mn-lt"/>
        <a:ea typeface="+mn-ea"/>
        <a:cs typeface="+mn-cs"/>
        <a:sym typeface="Calibri"/>
      </a:defRPr>
    </a:lvl6pPr>
    <a:lvl7pPr indent="1371600">
      <a:defRPr sz="1200">
        <a:uFill>
          <a:solidFill/>
        </a:uFill>
        <a:latin typeface="+mn-lt"/>
        <a:ea typeface="+mn-ea"/>
        <a:cs typeface="+mn-cs"/>
        <a:sym typeface="Calibri"/>
      </a:defRPr>
    </a:lvl7pPr>
    <a:lvl8pPr indent="1600200">
      <a:defRPr sz="1200">
        <a:uFill>
          <a:solidFill/>
        </a:uFill>
        <a:latin typeface="+mn-lt"/>
        <a:ea typeface="+mn-ea"/>
        <a:cs typeface="+mn-cs"/>
        <a:sym typeface="Calibri"/>
      </a:defRPr>
    </a:lvl8pPr>
    <a:lvl9pPr indent="1828800">
      <a:defRPr sz="1200">
        <a:uFill>
          <a:solidFill/>
        </a:uFill>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prstGeom prst="rect">
            <a:avLst/>
          </a:prstGeom>
        </p:spPr>
        <p:txBody>
          <a:bodyPr/>
          <a:lstStyle/>
          <a:p>
            <a:pPr lvl="0"/>
            <a:endParaRPr/>
          </a:p>
        </p:txBody>
      </p:sp>
      <p:sp>
        <p:nvSpPr>
          <p:cNvPr id="28" name="Shape 28"/>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Project name – pick a cool sounding name for your project</a:t>
            </a:r>
          </a:p>
          <a:p>
            <a:pPr lvl="0">
              <a:buClr>
                <a:srgbClr val="000000"/>
              </a:buClr>
              <a:defRPr sz="1800">
                <a:uFillTx/>
              </a:defRPr>
            </a:pPr>
            <a:r>
              <a:rPr sz="1200">
                <a:uFill>
                  <a:solidFill/>
                </a:uFill>
              </a:rPr>
              <a:t>Sponsors – list your project sponsors here (the people with the money)</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Putting your sponsors name boldly out there for all to see is a great way to get their engagement and attention (necessary for any successful 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prstGeom prst="rect">
            <a:avLst/>
          </a:prstGeom>
        </p:spPr>
        <p:txBody>
          <a:bodyPr/>
          <a:lstStyle/>
          <a:p>
            <a:pPr lvl="0"/>
            <a:endParaRPr/>
          </a:p>
        </p:txBody>
      </p:sp>
      <p:sp>
        <p:nvSpPr>
          <p:cNvPr id="36" name="Shape 3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Write down all the reasons why your company would want to spend money on this project in the first place.</a:t>
            </a:r>
          </a:p>
          <a:p>
            <a:pPr lvl="0">
              <a:buClr>
                <a:srgbClr val="000000"/>
              </a:buClr>
              <a:defRPr sz="1800">
                <a:uFillTx/>
              </a:defRPr>
            </a:pPr>
            <a:r>
              <a:rPr sz="1200">
                <a:uFill>
                  <a:solidFill/>
                </a:uFill>
              </a:rPr>
              <a:t>Then pick and highlight the most important one.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noRot="1" noChangeAspect="1"/>
          </p:cNvSpPr>
          <p:nvPr>
            <p:ph type="sldImg"/>
          </p:nvPr>
        </p:nvSpPr>
        <p:spPr>
          <a:prstGeom prst="rect">
            <a:avLst/>
          </a:prstGeom>
        </p:spPr>
        <p:txBody>
          <a:bodyPr/>
          <a:lstStyle/>
          <a:p>
            <a:pPr lvl="0"/>
            <a:endParaRPr/>
          </a:p>
        </p:txBody>
      </p:sp>
      <p:sp>
        <p:nvSpPr>
          <p:cNvPr id="53" name="Shape 53"/>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If you could walk into a store, and buy the shrink wrapped version of your software, what the design of the box look like and what would it say?</a:t>
            </a:r>
          </a:p>
          <a:p>
            <a:pPr lvl="0">
              <a:buClr>
                <a:srgbClr val="000000"/>
              </a:buClr>
              <a:defRPr sz="1800">
                <a:uFillTx/>
              </a:defRPr>
            </a:pPr>
            <a:r>
              <a:rPr sz="1200">
                <a:uFill>
                  <a:solidFill/>
                </a:uFill>
              </a:rPr>
              <a:t>Point here is to get your team looking at your project through the eyes of your end customer.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pPr lvl="0"/>
            <a:endParaRPr/>
          </a:p>
        </p:txBody>
      </p:sp>
      <p:sp>
        <p:nvSpPr>
          <p:cNvPr id="62" name="Shape 6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all the big ticket items you are (and are NOT) going to deliver within the scope of this project.</a:t>
            </a:r>
          </a:p>
          <a:p>
            <a:pPr lvl="0">
              <a:buClr>
                <a:srgbClr val="000000"/>
              </a:buClr>
              <a:defRPr sz="1800">
                <a:uFillTx/>
              </a:defRPr>
            </a:pPr>
            <a:r>
              <a:rPr sz="1200">
                <a:uFill>
                  <a:solidFill/>
                </a:uFill>
              </a:rPr>
              <a:t>Before starting your project move all the UNRESOLVED ones to either IN or OUT.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pPr lvl="0"/>
            <a:endParaRPr/>
          </a:p>
        </p:txBody>
      </p:sp>
      <p:sp>
        <p:nvSpPr>
          <p:cNvPr id="77" name="Shape 77"/>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everyone you are going to have to interact with at some point during the course of your project.</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Goal is to start building relationships with these people and let them know we are coming down the tracks  (before we actually get there).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prstGeom prst="rect">
            <a:avLst/>
          </a:prstGeom>
        </p:spPr>
        <p:txBody>
          <a:bodyPr/>
          <a:lstStyle/>
          <a:p>
            <a:pPr lvl="0"/>
            <a:endParaRPr/>
          </a:p>
        </p:txBody>
      </p:sp>
      <p:sp>
        <p:nvSpPr>
          <p:cNvPr id="102" name="Shape 10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about letting people know how we plan on building this thing.</a:t>
            </a:r>
          </a:p>
          <a:p>
            <a:pPr lvl="0">
              <a:buClr>
                <a:srgbClr val="000000"/>
              </a:buClr>
              <a:defRPr sz="1800">
                <a:uFillTx/>
              </a:defRPr>
            </a:pPr>
            <a:r>
              <a:rPr sz="1200">
                <a:uFill>
                  <a:solidFill/>
                </a:uFill>
              </a:rPr>
              <a:t>If there are any tools or libraries assumptions you are making list them here.</a:t>
            </a:r>
          </a:p>
          <a:p>
            <a:pPr lvl="0">
              <a:buClr>
                <a:srgbClr val="000000"/>
              </a:buClr>
              <a:defRPr sz="1800">
                <a:uFillTx/>
              </a:defRPr>
            </a:pPr>
            <a:r>
              <a:rPr sz="1200">
                <a:uFill>
                  <a:solidFill/>
                </a:uFill>
              </a:rPr>
              <a:t>Also if there are areas of the application architecture that are risky highlight those too.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prstGeom prst="rect">
            <a:avLst/>
          </a:prstGeom>
        </p:spPr>
        <p:txBody>
          <a:bodyPr/>
          <a:lstStyle/>
          <a:p>
            <a:pPr lvl="0"/>
            <a:endParaRPr/>
          </a:p>
        </p:txBody>
      </p:sp>
      <p:sp>
        <p:nvSpPr>
          <p:cNvPr id="110" name="Shape 110"/>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your chance to call out any craziness you’ve heard while building the deck, and having a frank conversation with your sponsors and your team about how you are going to handle it.</a:t>
            </a:r>
          </a:p>
          <a:p>
            <a:pPr lvl="0">
              <a:buClr>
                <a:srgbClr val="000000"/>
              </a:buClr>
              <a:defRPr sz="1800">
                <a:uFillTx/>
              </a:defRPr>
            </a:pPr>
            <a:r>
              <a:rPr sz="1200">
                <a:uFill>
                  <a:solidFill/>
                </a:uFill>
              </a:rPr>
              <a:t>This is perhaps on of the most powerful slides in the deck – it’s your chance to ask for whatever you need to be successful and the consequences if you don’t get it.</a:t>
            </a:r>
          </a:p>
          <a:p>
            <a:pPr lvl="0">
              <a:buClr>
                <a:srgbClr val="000000"/>
              </a:buClr>
              <a:defRPr sz="1800">
                <a:uFillTx/>
              </a:defRPr>
            </a:pPr>
            <a:r>
              <a:rPr sz="1200">
                <a:uFill>
                  <a:solidFill/>
                </a:uFill>
              </a:rPr>
              <a:t>Use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prstGeom prst="rect">
            <a:avLst/>
          </a:prstGeom>
        </p:spPr>
        <p:txBody>
          <a:bodyPr/>
          <a:lstStyle/>
          <a:p>
            <a:pPr lvl="0"/>
            <a:endParaRPr/>
          </a:p>
        </p:txBody>
      </p:sp>
      <p:sp>
        <p:nvSpPr>
          <p:cNvPr id="116" name="Shape 11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Set expectations around who you are going to need and what kind of skills they will need to have to pull this off.</a:t>
            </a:r>
          </a:p>
          <a:p>
            <a:pPr lvl="0">
              <a:buClr>
                <a:srgbClr val="000000"/>
              </a:buClr>
              <a:defRPr sz="1800">
                <a:uFillTx/>
              </a:defRPr>
            </a:pPr>
            <a:r>
              <a:rPr sz="1200">
                <a:uFill>
                  <a:solidFill/>
                </a:uFill>
              </a:rPr>
              <a:t>Use names if specific people are important (i.e. Billy is the only guy who can do 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prstGeom prst="rect">
            <a:avLst/>
          </a:prstGeom>
        </p:spPr>
        <p:txBody>
          <a:bodyPr/>
          <a:lstStyle/>
          <a:p>
            <a:pPr lvl="0"/>
            <a:endParaRPr/>
          </a:p>
        </p:txBody>
      </p:sp>
      <p:sp>
        <p:nvSpPr>
          <p:cNvPr id="135" name="Shape 13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Give your sponsors some idea of how big this thing is (1, 3, or 6 monther).</a:t>
            </a:r>
          </a:p>
          <a:p>
            <a:pPr lvl="0">
              <a:buClr>
                <a:srgbClr val="000000"/>
              </a:buClr>
              <a:defRPr sz="1800">
                <a:uFillTx/>
              </a:defRPr>
            </a:pPr>
            <a:r>
              <a:rPr sz="1200">
                <a:uFill>
                  <a:solidFill/>
                </a:uFill>
              </a:rPr>
              <a:t>Before you can complete this slide you and the team should create and estimate a high-level story list for the project.</a:t>
            </a:r>
          </a:p>
          <a:p>
            <a:pPr lvl="0">
              <a:buClr>
                <a:srgbClr val="000000"/>
              </a:buClr>
              <a:defRPr sz="1800">
                <a:uFillTx/>
              </a:defRPr>
            </a:pPr>
            <a:r>
              <a:rPr sz="1200">
                <a:uFill>
                  <a:solidFill/>
                </a:uFill>
              </a:rPr>
              <a:t>This isn’t a commitment (too many unknowns). It’s just a really rough guess. Don’t treat it as anything else.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pPr lvl="0"/>
            <a:endParaRPr/>
          </a:p>
        </p:txBody>
      </p:sp>
      <p:sp>
        <p:nvSpPr>
          <p:cNvPr id="207" name="Shape 207"/>
          <p:cNvSpPr>
            <a:spLocks noGrp="1"/>
          </p:cNvSpPr>
          <p:nvPr>
            <p:ph type="body" sz="quarter" idx="1"/>
          </p:nvPr>
        </p:nvSpPr>
        <p:spPr>
          <a:prstGeom prst="rect">
            <a:avLst/>
          </a:prstGeom>
        </p:spPr>
        <p:txBody>
          <a:bodyPr/>
          <a:lstStyle/>
          <a:p>
            <a:pPr lvl="0">
              <a:buClr>
                <a:srgbClr val="000000"/>
              </a:buClr>
              <a:defRPr sz="1800">
                <a:uFillTx/>
              </a:defRPr>
            </a:pPr>
            <a:r>
              <a:rPr sz="200">
                <a:uFill>
                  <a:solidFill/>
                </a:uFill>
              </a:rPr>
              <a:t>When push comes to shove, something has to give. Here we want to be clear on what that is.</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200">
                <a:uFill>
                  <a:solidFill/>
                </a:uFill>
              </a:rPr>
              <a:t>On agile projects we flex on scope. But there could be others factors at play here so get ready to listen as you customer tells you which forces can bend (scope) and which are written in stone (usually budget).</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1000">
                <a:uFill>
                  <a:solidFill/>
                </a:uFill>
              </a:rPr>
              <a:t>Slider rules:</a:t>
            </a:r>
            <a:endParaRPr sz="1200">
              <a:uFill>
                <a:solidFill/>
              </a:uFill>
            </a:endParaRPr>
          </a:p>
          <a:p>
            <a:pPr lvl="0">
              <a:buClr>
                <a:srgbClr val="000000"/>
              </a:buClr>
              <a:defRPr sz="1800">
                <a:uFillTx/>
              </a:defRPr>
            </a:pPr>
            <a:r>
              <a:rPr sz="1000">
                <a:uFill>
                  <a:solidFill/>
                </a:uFill>
              </a:rPr>
              <a:t>1. No two sliders can </a:t>
            </a:r>
            <a:r>
              <a:rPr sz="200">
                <a:uFill>
                  <a:solidFill/>
                </a:uFill>
              </a:rPr>
              <a:t>occupy the same level.</a:t>
            </a:r>
            <a:endParaRPr sz="1200">
              <a:uFill>
                <a:solidFill/>
              </a:uFill>
            </a:endParaRPr>
          </a:p>
          <a:p>
            <a:pPr lvl="0">
              <a:buClr>
                <a:srgbClr val="000000"/>
              </a:buClr>
              <a:defRPr sz="1800">
                <a:uFillTx/>
              </a:defRPr>
            </a:pPr>
            <a:r>
              <a:rPr sz="200">
                <a:uFill>
                  <a:solidFill/>
                </a:uFill>
              </a:rPr>
              <a:t>2. List other important project factors down below.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pPr lvl="0"/>
            <a:endParaRPr/>
          </a:p>
        </p:txBody>
      </p:sp>
      <p:sp>
        <p:nvSpPr>
          <p:cNvPr id="225" name="Shape 22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Stakeholders are usually interested in two things:</a:t>
            </a:r>
          </a:p>
          <a:p>
            <a:pPr marL="228600" lvl="0" indent="-228600">
              <a:buClr>
                <a:srgbClr val="000000"/>
              </a:buClr>
              <a:buSzPct val="100000"/>
              <a:buAutoNum type="arabicPeriod"/>
              <a:defRPr sz="1800">
                <a:uFillTx/>
              </a:defRPr>
            </a:pPr>
            <a:r>
              <a:rPr sz="1200">
                <a:uFill>
                  <a:solidFill/>
                </a:uFill>
              </a:rPr>
              <a:t>How much is this going to cost.</a:t>
            </a:r>
          </a:p>
          <a:p>
            <a:pPr marL="228600" lvl="0" indent="-228600">
              <a:buClr>
                <a:srgbClr val="000000"/>
              </a:buClr>
              <a:buSzPct val="100000"/>
              <a:buAutoNum type="arabicPeriod" startAt="2"/>
              <a:defRPr sz="1800">
                <a:uFillTx/>
              </a:defRPr>
            </a:pPr>
            <a:r>
              <a:rPr sz="1200">
                <a:uFill>
                  <a:solidFill/>
                </a:uFill>
              </a:rPr>
              <a:t>When is it going to be done.</a:t>
            </a:r>
          </a:p>
          <a:p>
            <a:pPr marL="228600" lvl="0" indent="-228600">
              <a:buClr>
                <a:srgbClr val="000000"/>
              </a:buClr>
              <a:buSzPct val="100000"/>
              <a:buAutoNum type="arabicPeriod" startAt="3"/>
              <a:defRPr sz="1800">
                <a:uFillTx/>
              </a:defRPr>
            </a:pPr>
            <a:endParaRPr sz="1200">
              <a:uFill>
                <a:solidFill/>
              </a:uFill>
            </a:endParaRPr>
          </a:p>
          <a:p>
            <a:pPr marL="228600" lvl="0" indent="-228600">
              <a:buClr>
                <a:srgbClr val="000000"/>
              </a:buClr>
              <a:defRPr sz="1800">
                <a:uFillTx/>
              </a:defRPr>
            </a:pPr>
            <a:r>
              <a:rPr sz="1200">
                <a:uFill>
                  <a:solidFill/>
                </a:uFill>
              </a:rPr>
              <a:t>Here we do our best to answer those two questions so they can decide if the project is still worth doing by showing them what it’s going to take.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prstGeom prst="rect">
            <a:avLst/>
          </a:prstGeom>
        </p:spPr>
        <p:txBody>
          <a:bodyPr/>
          <a:lstStyle/>
          <a:p>
            <a:pPr lvl="0"/>
            <a:endParaRPr/>
          </a:p>
        </p:txBody>
      </p:sp>
      <p:sp>
        <p:nvSpPr>
          <p:cNvPr id="232" name="Shape 23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That’s it! Create your deck.</a:t>
            </a:r>
          </a:p>
          <a:p>
            <a:pPr lvl="0">
              <a:buClr>
                <a:srgbClr val="000000"/>
              </a:buClr>
              <a:defRPr sz="1800">
                <a:uFillTx/>
              </a:defRPr>
            </a:pPr>
            <a:r>
              <a:rPr sz="1200">
                <a:uFill>
                  <a:solidFill/>
                </a:uFill>
              </a:rPr>
              <a:t>Put it somewhere visible for all too see.</a:t>
            </a:r>
          </a:p>
          <a:p>
            <a:pPr lvl="0">
              <a:buClr>
                <a:srgbClr val="000000"/>
              </a:buClr>
              <a:defRPr sz="1800">
                <a:uFillTx/>
              </a:defRPr>
            </a:pPr>
            <a:r>
              <a:rPr sz="1200">
                <a:uFill>
                  <a:solidFill/>
                </a:uFill>
              </a:rPr>
              <a:t>And update it when things change.</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Good luck!</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 Title Slide">
    <p:spTree>
      <p:nvGrpSpPr>
        <p:cNvPr id="1" name=""/>
        <p:cNvGrpSpPr/>
        <p:nvPr/>
      </p:nvGrpSpPr>
      <p:grpSpPr>
        <a:xfrm>
          <a:off x="0" y="0"/>
          <a:ext cx="0" cy="0"/>
          <a:chOff x="0" y="0"/>
          <a:chExt cx="0" cy="0"/>
        </a:xfrm>
      </p:grpSpPr>
      <p:pic>
        <p:nvPicPr>
          <p:cNvPr id="7" name="image1.png"/>
          <p:cNvPicPr/>
          <p:nvPr/>
        </p:nvPicPr>
        <p:blipFill>
          <a:blip r:embed="rId2"/>
          <a:stretch>
            <a:fillRect/>
          </a:stretch>
        </p:blipFill>
        <p:spPr>
          <a:xfrm>
            <a:off x="7848600" y="6311900"/>
            <a:ext cx="1117600" cy="393700"/>
          </a:xfrm>
          <a:prstGeom prst="rect">
            <a:avLst/>
          </a:prstGeom>
          <a:ln w="12700">
            <a:miter lim="400000"/>
          </a:ln>
        </p:spPr>
      </p:pic>
      <p:sp>
        <p:nvSpPr>
          <p:cNvPr id="8" name="Shape 8"/>
          <p:cNvSpPr>
            <a:spLocks noGrp="1"/>
          </p:cNvSpPr>
          <p:nvPr>
            <p:ph type="title"/>
          </p:nvPr>
        </p:nvSpPr>
        <p:spPr>
          <a:xfrm>
            <a:off x="685800" y="2130425"/>
            <a:ext cx="7772400" cy="1470025"/>
          </a:xfrm>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9" name="Shape 9"/>
          <p:cNvSpPr>
            <a:spLocks noGrp="1"/>
          </p:cNvSpPr>
          <p:nvPr>
            <p:ph type="body" idx="1"/>
          </p:nvPr>
        </p:nvSpPr>
        <p:spPr>
          <a:xfrm>
            <a:off x="1371600" y="3886200"/>
            <a:ext cx="6400800" cy="1752600"/>
          </a:xfrm>
          <a:prstGeom prst="rect">
            <a:avLst/>
          </a:prstGeom>
        </p:spPr>
        <p:txBody>
          <a:bodyPr/>
          <a:lstStyle>
            <a:lvl1pPr marL="0" indent="0" algn="ctr">
              <a:buClr>
                <a:srgbClr val="9A9A9A"/>
              </a:buClr>
              <a:buSzTx/>
              <a:buFontTx/>
              <a:buNone/>
              <a:defRPr>
                <a:solidFill>
                  <a:srgbClr val="9A9A9A"/>
                </a:solidFill>
                <a:uFill>
                  <a:solidFill>
                    <a:srgbClr val="9A9A9A"/>
                  </a:solidFill>
                </a:uFill>
              </a:defRPr>
            </a:lvl1pPr>
            <a:lvl2pPr marL="457200" indent="0" algn="ctr">
              <a:spcBef>
                <a:spcPts val="600"/>
              </a:spcBef>
              <a:buClr>
                <a:srgbClr val="9A9A9A"/>
              </a:buClr>
              <a:buSzTx/>
              <a:buFontTx/>
              <a:buNone/>
              <a:defRPr sz="2800">
                <a:solidFill>
                  <a:srgbClr val="9A9A9A"/>
                </a:solidFill>
                <a:uFill>
                  <a:solidFill>
                    <a:srgbClr val="9A9A9A"/>
                  </a:solidFill>
                </a:uFill>
              </a:defRPr>
            </a:lvl2pPr>
            <a:lvl3pPr marL="914400" indent="0" algn="ctr">
              <a:spcBef>
                <a:spcPts val="500"/>
              </a:spcBef>
              <a:buClr>
                <a:srgbClr val="9A9A9A"/>
              </a:buClr>
              <a:buSzTx/>
              <a:buFontTx/>
              <a:buNone/>
              <a:defRPr sz="2400">
                <a:solidFill>
                  <a:srgbClr val="9A9A9A"/>
                </a:solidFill>
                <a:uFill>
                  <a:solidFill>
                    <a:srgbClr val="9A9A9A"/>
                  </a:solidFill>
                </a:uFill>
              </a:defRPr>
            </a:lvl3pPr>
            <a:lvl4pPr marL="1371600" indent="0" algn="ctr">
              <a:spcBef>
                <a:spcPts val="400"/>
              </a:spcBef>
              <a:buClr>
                <a:srgbClr val="9A9A9A"/>
              </a:buClr>
              <a:buSzTx/>
              <a:buFontTx/>
              <a:buNone/>
              <a:defRPr sz="2000">
                <a:solidFill>
                  <a:srgbClr val="9A9A9A"/>
                </a:solidFill>
                <a:uFill>
                  <a:solidFill>
                    <a:srgbClr val="9A9A9A"/>
                  </a:solidFill>
                </a:uFill>
              </a:defRPr>
            </a:lvl4pPr>
            <a:lvl5pPr marL="1828800" indent="0" algn="ctr">
              <a:spcBef>
                <a:spcPts val="400"/>
              </a:spcBef>
              <a:buClr>
                <a:srgbClr val="9A9A9A"/>
              </a:buClr>
              <a:buSzTx/>
              <a:buFontTx/>
              <a:buNone/>
              <a:defRPr sz="2000">
                <a:solidFill>
                  <a:srgbClr val="9A9A9A"/>
                </a:solidFill>
                <a:uFill>
                  <a:solidFill>
                    <a:srgbClr val="9A9A9A"/>
                  </a:solidFill>
                </a:uFill>
              </a:defRPr>
            </a:lvl5pPr>
          </a:lstStyle>
          <a:p>
            <a:pPr lvl="0">
              <a:defRPr sz="1800">
                <a:solidFill>
                  <a:srgbClr val="000000"/>
                </a:solidFill>
                <a:uFillTx/>
              </a:defRPr>
            </a:pPr>
            <a:r>
              <a:rPr sz="3200">
                <a:solidFill>
                  <a:srgbClr val="9A9A9A"/>
                </a:solidFill>
                <a:uFill>
                  <a:solidFill>
                    <a:srgbClr val="9A9A9A"/>
                  </a:solidFill>
                </a:uFill>
              </a:rPr>
              <a:t>Body Level One</a:t>
            </a:r>
          </a:p>
          <a:p>
            <a:pPr lvl="1">
              <a:defRPr sz="1800">
                <a:solidFill>
                  <a:srgbClr val="000000"/>
                </a:solidFill>
                <a:uFillTx/>
              </a:defRPr>
            </a:pPr>
            <a:r>
              <a:rPr sz="2800">
                <a:solidFill>
                  <a:srgbClr val="9A9A9A"/>
                </a:solidFill>
                <a:uFill>
                  <a:solidFill>
                    <a:srgbClr val="9A9A9A"/>
                  </a:solidFill>
                </a:uFill>
              </a:rPr>
              <a:t>Body Level Two</a:t>
            </a:r>
          </a:p>
          <a:p>
            <a:pPr lvl="2">
              <a:defRPr sz="1800">
                <a:solidFill>
                  <a:srgbClr val="000000"/>
                </a:solidFill>
                <a:uFillTx/>
              </a:defRPr>
            </a:pPr>
            <a:r>
              <a:rPr sz="2400">
                <a:solidFill>
                  <a:srgbClr val="9A9A9A"/>
                </a:solidFill>
                <a:uFill>
                  <a:solidFill>
                    <a:srgbClr val="9A9A9A"/>
                  </a:solidFill>
                </a:uFill>
              </a:rPr>
              <a:t>Body Level Three</a:t>
            </a:r>
          </a:p>
          <a:p>
            <a:pPr lvl="3">
              <a:defRPr sz="1800">
                <a:solidFill>
                  <a:srgbClr val="000000"/>
                </a:solidFill>
                <a:uFillTx/>
              </a:defRPr>
            </a:pPr>
            <a:r>
              <a:rPr sz="2000">
                <a:solidFill>
                  <a:srgbClr val="9A9A9A"/>
                </a:solidFill>
                <a:uFill>
                  <a:solidFill>
                    <a:srgbClr val="9A9A9A"/>
                  </a:solidFill>
                </a:uFill>
              </a:rPr>
              <a:t>Body Level Four</a:t>
            </a:r>
          </a:p>
          <a:p>
            <a:pPr lvl="4">
              <a:defRPr sz="1800">
                <a:solidFill>
                  <a:srgbClr val="000000"/>
                </a:solidFill>
                <a:uFillTx/>
              </a:defRPr>
            </a:pPr>
            <a:r>
              <a:rPr sz="2000">
                <a:solidFill>
                  <a:srgbClr val="9A9A9A"/>
                </a:solidFill>
                <a:uFill>
                  <a:solidFill>
                    <a:srgbClr val="9A9A9A"/>
                  </a:solidFill>
                </a:uFill>
              </a:rPr>
              <a:t>Body Level Five</a:t>
            </a:r>
          </a:p>
        </p:txBody>
      </p:sp>
      <p:sp>
        <p:nvSpPr>
          <p:cNvPr id="10" name="Shape 10"/>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2" name="Shape 12"/>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13" name="Shape 13"/>
          <p:cNvSpPr>
            <a:spLocks noGrp="1"/>
          </p:cNvSpPr>
          <p:nvPr>
            <p:ph type="body" idx="1"/>
          </p:nvPr>
        </p:nvSpPr>
        <p:spPr>
          <a:prstGeom prst="rect">
            <a:avLst/>
          </a:prstGeom>
        </p:spPr>
        <p:txBody>
          <a:bodyPr/>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14" name="Shape 14"/>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1.png"/>
          <p:cNvPicPr/>
          <p:nvPr/>
        </p:nvPicPr>
        <p:blipFill>
          <a:blip r:embed="rId4"/>
          <a:stretch>
            <a:fillRect/>
          </a:stretch>
        </p:blipFill>
        <p:spPr>
          <a:xfrm>
            <a:off x="7848600" y="6311900"/>
            <a:ext cx="1117600" cy="393700"/>
          </a:xfrm>
          <a:prstGeom prst="rect">
            <a:avLst/>
          </a:prstGeom>
          <a:ln w="12700">
            <a:miter lim="400000"/>
          </a:ln>
        </p:spPr>
      </p:pic>
      <p:sp>
        <p:nvSpPr>
          <p:cNvPr id="3" name="Shape 3"/>
          <p:cNvSpPr>
            <a:spLocks noGrp="1"/>
          </p:cNvSpPr>
          <p:nvPr>
            <p:ph type="title"/>
          </p:nvPr>
        </p:nvSpPr>
        <p:spPr>
          <a:xfrm>
            <a:off x="457200" y="274637"/>
            <a:ext cx="8229600" cy="1143001"/>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nchor="ctr"/>
          <a:lstStyle/>
          <a:p>
            <a:pPr lvl="0">
              <a:defRPr sz="1800">
                <a:solidFill>
                  <a:srgbClr val="000000"/>
                </a:solidFill>
                <a:uFillTx/>
              </a:defRPr>
            </a:pPr>
            <a:r>
              <a:rPr sz="4400">
                <a:solidFill>
                  <a:srgbClr val="1D4871"/>
                </a:solidFill>
                <a:uFill>
                  <a:solidFill>
                    <a:srgbClr val="1D4871"/>
                  </a:solidFill>
                </a:uFill>
              </a:rPr>
              <a:t>Title Text</a:t>
            </a:r>
          </a:p>
        </p:txBody>
      </p:sp>
      <p:sp>
        <p:nvSpPr>
          <p:cNvPr id="4" name="Shape 4"/>
          <p:cNvSpPr>
            <a:spLocks noGrp="1"/>
          </p:cNvSpPr>
          <p:nvPr>
            <p:ph type="body" idx="1"/>
          </p:nvPr>
        </p:nvSpPr>
        <p:spPr>
          <a:xfrm>
            <a:off x="457200" y="1600199"/>
            <a:ext cx="8229600" cy="4525964"/>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5" name="Shape 5"/>
          <p:cNvSpPr>
            <a:spLocks noGrp="1"/>
          </p:cNvSpPr>
          <p:nvPr>
            <p:ph type="sldNum" sz="quarter" idx="2"/>
          </p:nvPr>
        </p:nvSpPr>
        <p:spPr>
          <a:xfrm>
            <a:off x="8405167" y="6473825"/>
            <a:ext cx="281633" cy="266701"/>
          </a:xfrm>
          <a:prstGeom prst="rect">
            <a:avLst/>
          </a:prstGeom>
          <a:ln w="12700">
            <a:round/>
          </a:ln>
        </p:spPr>
        <p:txBody>
          <a:bodyPr wrap="none" lIns="38100" tIns="38100" rIns="38100" bIns="38100" anchor="ctr">
            <a:spAutoFit/>
          </a:bodyPr>
          <a:lstStyle>
            <a:lvl1pPr algn="r">
              <a:buClrTx/>
              <a:defRPr sz="1200">
                <a:solidFill>
                  <a:srgbClr val="9A9A9A"/>
                </a:solidFill>
                <a:uFill>
                  <a:solidFill>
                    <a:srgbClr val="9A9A9A"/>
                  </a:solidFill>
                </a:uFill>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a:defRPr sz="4400">
          <a:solidFill>
            <a:srgbClr val="1D4871"/>
          </a:solidFill>
          <a:uFill>
            <a:solidFill>
              <a:srgbClr val="1D4871"/>
            </a:solidFill>
          </a:uFill>
          <a:latin typeface="+mn-lt"/>
          <a:ea typeface="+mn-ea"/>
          <a:cs typeface="+mn-cs"/>
          <a:sym typeface="Calibri"/>
        </a:defRPr>
      </a:lvl1pPr>
      <a:lvl2pPr indent="228600">
        <a:defRPr sz="4400">
          <a:solidFill>
            <a:srgbClr val="1D4871"/>
          </a:solidFill>
          <a:uFill>
            <a:solidFill>
              <a:srgbClr val="1D4871"/>
            </a:solidFill>
          </a:uFill>
          <a:latin typeface="+mn-lt"/>
          <a:ea typeface="+mn-ea"/>
          <a:cs typeface="+mn-cs"/>
          <a:sym typeface="Calibri"/>
        </a:defRPr>
      </a:lvl2pPr>
      <a:lvl3pPr indent="457200">
        <a:defRPr sz="4400">
          <a:solidFill>
            <a:srgbClr val="1D4871"/>
          </a:solidFill>
          <a:uFill>
            <a:solidFill>
              <a:srgbClr val="1D4871"/>
            </a:solidFill>
          </a:uFill>
          <a:latin typeface="+mn-lt"/>
          <a:ea typeface="+mn-ea"/>
          <a:cs typeface="+mn-cs"/>
          <a:sym typeface="Calibri"/>
        </a:defRPr>
      </a:lvl3pPr>
      <a:lvl4pPr indent="685800">
        <a:defRPr sz="4400">
          <a:solidFill>
            <a:srgbClr val="1D4871"/>
          </a:solidFill>
          <a:uFill>
            <a:solidFill>
              <a:srgbClr val="1D4871"/>
            </a:solidFill>
          </a:uFill>
          <a:latin typeface="+mn-lt"/>
          <a:ea typeface="+mn-ea"/>
          <a:cs typeface="+mn-cs"/>
          <a:sym typeface="Calibri"/>
        </a:defRPr>
      </a:lvl4pPr>
      <a:lvl5pPr indent="914400">
        <a:defRPr sz="4400">
          <a:solidFill>
            <a:srgbClr val="1D4871"/>
          </a:solidFill>
          <a:uFill>
            <a:solidFill>
              <a:srgbClr val="1D4871"/>
            </a:solidFill>
          </a:uFill>
          <a:latin typeface="+mn-lt"/>
          <a:ea typeface="+mn-ea"/>
          <a:cs typeface="+mn-cs"/>
          <a:sym typeface="Calibri"/>
        </a:defRPr>
      </a:lvl5pPr>
      <a:lvl6pPr indent="1143000">
        <a:defRPr sz="4400">
          <a:solidFill>
            <a:srgbClr val="1D4871"/>
          </a:solidFill>
          <a:uFill>
            <a:solidFill>
              <a:srgbClr val="1D4871"/>
            </a:solidFill>
          </a:uFill>
          <a:latin typeface="+mn-lt"/>
          <a:ea typeface="+mn-ea"/>
          <a:cs typeface="+mn-cs"/>
          <a:sym typeface="Calibri"/>
        </a:defRPr>
      </a:lvl6pPr>
      <a:lvl7pPr indent="1371600">
        <a:defRPr sz="4400">
          <a:solidFill>
            <a:srgbClr val="1D4871"/>
          </a:solidFill>
          <a:uFill>
            <a:solidFill>
              <a:srgbClr val="1D4871"/>
            </a:solidFill>
          </a:uFill>
          <a:latin typeface="+mn-lt"/>
          <a:ea typeface="+mn-ea"/>
          <a:cs typeface="+mn-cs"/>
          <a:sym typeface="Calibri"/>
        </a:defRPr>
      </a:lvl7pPr>
      <a:lvl8pPr indent="1600200">
        <a:defRPr sz="4400">
          <a:solidFill>
            <a:srgbClr val="1D4871"/>
          </a:solidFill>
          <a:uFill>
            <a:solidFill>
              <a:srgbClr val="1D4871"/>
            </a:solidFill>
          </a:uFill>
          <a:latin typeface="+mn-lt"/>
          <a:ea typeface="+mn-ea"/>
          <a:cs typeface="+mn-cs"/>
          <a:sym typeface="Calibri"/>
        </a:defRPr>
      </a:lvl8pPr>
      <a:lvl9pPr indent="1828800">
        <a:defRPr sz="4400">
          <a:solidFill>
            <a:srgbClr val="1D4871"/>
          </a:solidFill>
          <a:uFill>
            <a:solidFill>
              <a:srgbClr val="1D4871"/>
            </a:solidFill>
          </a:uFill>
          <a:latin typeface="+mn-lt"/>
          <a:ea typeface="+mn-ea"/>
          <a:cs typeface="+mn-cs"/>
          <a:sym typeface="Calibri"/>
        </a:defRPr>
      </a:lvl9pPr>
    </p:titleStyle>
    <p:bodyStyle>
      <a:lvl1pPr marL="342900" indent="-342900">
        <a:spcBef>
          <a:spcPts val="700"/>
        </a:spcBef>
        <a:buClr>
          <a:srgbClr val="000000"/>
        </a:buClr>
        <a:buSzPct val="100000"/>
        <a:buFont typeface="Arial"/>
        <a:buChar char="•"/>
        <a:defRPr sz="3200">
          <a:uFill>
            <a:solidFill/>
          </a:uFill>
          <a:latin typeface="+mn-lt"/>
          <a:ea typeface="+mn-ea"/>
          <a:cs typeface="+mn-cs"/>
          <a:sym typeface="Calibri"/>
        </a:defRPr>
      </a:lvl1pPr>
      <a:lvl2pPr marL="783771" indent="-326571">
        <a:spcBef>
          <a:spcPts val="700"/>
        </a:spcBef>
        <a:buClr>
          <a:srgbClr val="000000"/>
        </a:buClr>
        <a:buSzPct val="100000"/>
        <a:buFont typeface="Arial"/>
        <a:buChar char="•"/>
        <a:defRPr sz="3200">
          <a:uFill>
            <a:solidFill/>
          </a:uFill>
          <a:latin typeface="+mn-lt"/>
          <a:ea typeface="+mn-ea"/>
          <a:cs typeface="+mn-cs"/>
          <a:sym typeface="Calibri"/>
        </a:defRPr>
      </a:lvl2pPr>
      <a:lvl3pPr marL="1219200" indent="-304800">
        <a:spcBef>
          <a:spcPts val="700"/>
        </a:spcBef>
        <a:buClr>
          <a:srgbClr val="000000"/>
        </a:buClr>
        <a:buSzPct val="100000"/>
        <a:buFont typeface="Arial"/>
        <a:buChar char="•"/>
        <a:defRPr sz="3200">
          <a:uFill>
            <a:solidFill/>
          </a:uFill>
          <a:latin typeface="+mn-lt"/>
          <a:ea typeface="+mn-ea"/>
          <a:cs typeface="+mn-cs"/>
          <a:sym typeface="Calibri"/>
        </a:defRPr>
      </a:lvl3pPr>
      <a:lvl4pPr marL="1737360" indent="-365760">
        <a:spcBef>
          <a:spcPts val="700"/>
        </a:spcBef>
        <a:buClr>
          <a:srgbClr val="000000"/>
        </a:buClr>
        <a:buSzPct val="100000"/>
        <a:buFont typeface="Arial"/>
        <a:buChar char="•"/>
        <a:defRPr sz="3200">
          <a:uFill>
            <a:solidFill/>
          </a:uFill>
          <a:latin typeface="+mn-lt"/>
          <a:ea typeface="+mn-ea"/>
          <a:cs typeface="+mn-cs"/>
          <a:sym typeface="Calibri"/>
        </a:defRPr>
      </a:lvl4pPr>
      <a:lvl5pPr marL="2194560" indent="-365760">
        <a:spcBef>
          <a:spcPts val="700"/>
        </a:spcBef>
        <a:buClr>
          <a:srgbClr val="000000"/>
        </a:buClr>
        <a:buSzPct val="100000"/>
        <a:buFont typeface="Arial"/>
        <a:buChar char="•"/>
        <a:defRPr sz="3200">
          <a:uFill>
            <a:solidFill/>
          </a:uFill>
          <a:latin typeface="+mn-lt"/>
          <a:ea typeface="+mn-ea"/>
          <a:cs typeface="+mn-cs"/>
          <a:sym typeface="Calibri"/>
        </a:defRPr>
      </a:lvl5pPr>
      <a:lvl6pPr marL="3365500" indent="-914400">
        <a:spcBef>
          <a:spcPts val="700"/>
        </a:spcBef>
        <a:buClr>
          <a:srgbClr val="000000"/>
        </a:buClr>
        <a:buSzPct val="171000"/>
        <a:buFont typeface="Arial"/>
        <a:buChar char="•"/>
        <a:defRPr sz="3200">
          <a:uFill>
            <a:solidFill/>
          </a:uFill>
          <a:latin typeface="+mn-lt"/>
          <a:ea typeface="+mn-ea"/>
          <a:cs typeface="+mn-cs"/>
          <a:sym typeface="Calibri"/>
        </a:defRPr>
      </a:lvl6pPr>
      <a:lvl7pPr marL="3721100" indent="-914400">
        <a:spcBef>
          <a:spcPts val="700"/>
        </a:spcBef>
        <a:buClr>
          <a:srgbClr val="000000"/>
        </a:buClr>
        <a:buSzPct val="171000"/>
        <a:buFont typeface="Arial"/>
        <a:buChar char="•"/>
        <a:defRPr sz="3200">
          <a:uFill>
            <a:solidFill/>
          </a:uFill>
          <a:latin typeface="+mn-lt"/>
          <a:ea typeface="+mn-ea"/>
          <a:cs typeface="+mn-cs"/>
          <a:sym typeface="Calibri"/>
        </a:defRPr>
      </a:lvl7pPr>
      <a:lvl8pPr marL="4076700" indent="-914400">
        <a:spcBef>
          <a:spcPts val="700"/>
        </a:spcBef>
        <a:buClr>
          <a:srgbClr val="000000"/>
        </a:buClr>
        <a:buSzPct val="171000"/>
        <a:buFont typeface="Arial"/>
        <a:buChar char="•"/>
        <a:defRPr sz="3200">
          <a:uFill>
            <a:solidFill/>
          </a:uFill>
          <a:latin typeface="+mn-lt"/>
          <a:ea typeface="+mn-ea"/>
          <a:cs typeface="+mn-cs"/>
          <a:sym typeface="Calibri"/>
        </a:defRPr>
      </a:lvl8pPr>
      <a:lvl9pPr marL="4432300" indent="-914400">
        <a:spcBef>
          <a:spcPts val="700"/>
        </a:spcBef>
        <a:buClr>
          <a:srgbClr val="000000"/>
        </a:buClr>
        <a:buSzPct val="171000"/>
        <a:buFont typeface="Arial"/>
        <a:buChar char="•"/>
        <a:defRPr sz="3200">
          <a:uFill>
            <a:solidFill/>
          </a:uFill>
          <a:latin typeface="+mn-lt"/>
          <a:ea typeface="+mn-ea"/>
          <a:cs typeface="+mn-cs"/>
          <a:sym typeface="Calibri"/>
        </a:defRPr>
      </a:lvl9pPr>
    </p:bodyStyle>
    <p:otherStyle>
      <a:lvl1pPr algn="r">
        <a:defRPr sz="1200">
          <a:solidFill>
            <a:schemeClr val="tx1"/>
          </a:solidFill>
          <a:uFill>
            <a:solidFill>
              <a:srgbClr val="9A9A9A"/>
            </a:solidFill>
          </a:uFill>
          <a:latin typeface="+mn-lt"/>
          <a:ea typeface="+mn-ea"/>
          <a:cs typeface="+mn-cs"/>
          <a:sym typeface="Calibri"/>
        </a:defRPr>
      </a:lvl1pPr>
      <a:lvl2pPr algn="r">
        <a:defRPr sz="1200">
          <a:solidFill>
            <a:schemeClr val="tx1"/>
          </a:solidFill>
          <a:uFill>
            <a:solidFill>
              <a:srgbClr val="9A9A9A"/>
            </a:solidFill>
          </a:uFill>
          <a:latin typeface="+mn-lt"/>
          <a:ea typeface="+mn-ea"/>
          <a:cs typeface="+mn-cs"/>
          <a:sym typeface="Calibri"/>
        </a:defRPr>
      </a:lvl2pPr>
      <a:lvl3pPr algn="r">
        <a:defRPr sz="1200">
          <a:solidFill>
            <a:schemeClr val="tx1"/>
          </a:solidFill>
          <a:uFill>
            <a:solidFill>
              <a:srgbClr val="9A9A9A"/>
            </a:solidFill>
          </a:uFill>
          <a:latin typeface="+mn-lt"/>
          <a:ea typeface="+mn-ea"/>
          <a:cs typeface="+mn-cs"/>
          <a:sym typeface="Calibri"/>
        </a:defRPr>
      </a:lvl3pPr>
      <a:lvl4pPr algn="r">
        <a:defRPr sz="1200">
          <a:solidFill>
            <a:schemeClr val="tx1"/>
          </a:solidFill>
          <a:uFill>
            <a:solidFill>
              <a:srgbClr val="9A9A9A"/>
            </a:solidFill>
          </a:uFill>
          <a:latin typeface="+mn-lt"/>
          <a:ea typeface="+mn-ea"/>
          <a:cs typeface="+mn-cs"/>
          <a:sym typeface="Calibri"/>
        </a:defRPr>
      </a:lvl4pPr>
      <a:lvl5pPr algn="r">
        <a:defRPr sz="1200">
          <a:solidFill>
            <a:schemeClr val="tx1"/>
          </a:solidFill>
          <a:uFill>
            <a:solidFill>
              <a:srgbClr val="9A9A9A"/>
            </a:solidFill>
          </a:uFill>
          <a:latin typeface="+mn-lt"/>
          <a:ea typeface="+mn-ea"/>
          <a:cs typeface="+mn-cs"/>
          <a:sym typeface="Calibri"/>
        </a:defRPr>
      </a:lvl5pPr>
      <a:lvl6pPr algn="r">
        <a:defRPr sz="1200">
          <a:solidFill>
            <a:schemeClr val="tx1"/>
          </a:solidFill>
          <a:uFill>
            <a:solidFill>
              <a:srgbClr val="9A9A9A"/>
            </a:solidFill>
          </a:uFill>
          <a:latin typeface="+mn-lt"/>
          <a:ea typeface="+mn-ea"/>
          <a:cs typeface="+mn-cs"/>
          <a:sym typeface="Calibri"/>
        </a:defRPr>
      </a:lvl6pPr>
      <a:lvl7pPr algn="r">
        <a:defRPr sz="1200">
          <a:solidFill>
            <a:schemeClr val="tx1"/>
          </a:solidFill>
          <a:uFill>
            <a:solidFill>
              <a:srgbClr val="9A9A9A"/>
            </a:solidFill>
          </a:uFill>
          <a:latin typeface="+mn-lt"/>
          <a:ea typeface="+mn-ea"/>
          <a:cs typeface="+mn-cs"/>
          <a:sym typeface="Calibri"/>
        </a:defRPr>
      </a:lvl7pPr>
      <a:lvl8pPr algn="r">
        <a:defRPr sz="1200">
          <a:solidFill>
            <a:schemeClr val="tx1"/>
          </a:solidFill>
          <a:uFill>
            <a:solidFill>
              <a:srgbClr val="9A9A9A"/>
            </a:solidFill>
          </a:uFill>
          <a:latin typeface="+mn-lt"/>
          <a:ea typeface="+mn-ea"/>
          <a:cs typeface="+mn-cs"/>
          <a:sym typeface="Calibri"/>
        </a:defRPr>
      </a:lvl8pPr>
      <a:lvl9pPr algn="r">
        <a:defRPr sz="1200">
          <a:solidFill>
            <a:schemeClr val="tx1"/>
          </a:solidFill>
          <a:uFill>
            <a:solidFill>
              <a:srgbClr val="9A9A9A"/>
            </a:solidFill>
          </a:u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agilewarrior.wordpres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1.png"/>
          <p:cNvPicPr/>
          <p:nvPr/>
        </p:nvPicPr>
        <p:blipFill>
          <a:blip r:embed="rId2"/>
          <a:stretch>
            <a:fillRect/>
          </a:stretch>
        </p:blipFill>
        <p:spPr>
          <a:xfrm>
            <a:off x="7848600" y="6311900"/>
            <a:ext cx="1117600" cy="393700"/>
          </a:xfrm>
          <a:prstGeom prst="rect">
            <a:avLst/>
          </a:prstGeom>
          <a:ln w="12700">
            <a:miter lim="400000"/>
          </a:ln>
        </p:spPr>
      </p:pic>
      <p:pic>
        <p:nvPicPr>
          <p:cNvPr id="19" name="image1.png"/>
          <p:cNvPicPr/>
          <p:nvPr/>
        </p:nvPicPr>
        <p:blipFill>
          <a:blip r:embed="rId2"/>
          <a:stretch>
            <a:fillRect/>
          </a:stretch>
        </p:blipFill>
        <p:spPr>
          <a:xfrm>
            <a:off x="7848600" y="6311900"/>
            <a:ext cx="1117600" cy="393700"/>
          </a:xfrm>
          <a:prstGeom prst="rect">
            <a:avLst/>
          </a:prstGeom>
          <a:ln w="12700">
            <a:miter lim="400000"/>
          </a:ln>
        </p:spPr>
      </p:pic>
      <p:sp>
        <p:nvSpPr>
          <p:cNvPr id="20" name="Shape 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Agile Inception Deck </a:t>
            </a:r>
          </a:p>
        </p:txBody>
      </p:sp>
      <p:sp>
        <p:nvSpPr>
          <p:cNvPr id="21" name="Shape 21"/>
          <p:cNvSpPr>
            <a:spLocks noGrp="1"/>
          </p:cNvSpPr>
          <p:nvPr>
            <p:ph type="body" idx="1"/>
          </p:nvPr>
        </p:nvSpPr>
        <p:spPr>
          <a:prstGeom prst="rect">
            <a:avLst/>
          </a:prstGeom>
        </p:spPr>
        <p:txBody>
          <a:bodyPr/>
          <a:lstStyle/>
          <a:p>
            <a:pPr lvl="0">
              <a:defRPr sz="1800">
                <a:solidFill>
                  <a:srgbClr val="000000"/>
                </a:solidFill>
                <a:uFillTx/>
              </a:defRPr>
            </a:pPr>
            <a:r>
              <a:rPr sz="3200">
                <a:solidFill>
                  <a:srgbClr val="9A9A9A"/>
                </a:solidFill>
                <a:uFill>
                  <a:solidFill>
                    <a:srgbClr val="9A9A9A"/>
                  </a:solidFill>
                </a:uFill>
              </a:rPr>
              <a:t>Template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1.png"/>
          <p:cNvPicPr/>
          <p:nvPr/>
        </p:nvPicPr>
        <p:blipFill>
          <a:blip r:embed="rId3"/>
          <a:stretch>
            <a:fillRect/>
          </a:stretch>
        </p:blipFill>
        <p:spPr>
          <a:xfrm>
            <a:off x="7848600" y="6311900"/>
            <a:ext cx="1117600" cy="393700"/>
          </a:xfrm>
          <a:prstGeom prst="rect">
            <a:avLst/>
          </a:prstGeom>
          <a:ln w="12700">
            <a:miter lim="400000"/>
          </a:ln>
        </p:spPr>
      </p:pic>
      <p:pic>
        <p:nvPicPr>
          <p:cNvPr id="24" name="image1.png"/>
          <p:cNvPicPr/>
          <p:nvPr/>
        </p:nvPicPr>
        <p:blipFill>
          <a:blip r:embed="rId3"/>
          <a:stretch>
            <a:fillRect/>
          </a:stretch>
        </p:blipFill>
        <p:spPr>
          <a:xfrm>
            <a:off x="7848600" y="6311900"/>
            <a:ext cx="1117600" cy="393700"/>
          </a:xfrm>
          <a:prstGeom prst="rect">
            <a:avLst/>
          </a:prstGeom>
          <a:ln w="12700">
            <a:miter lim="400000"/>
          </a:ln>
        </p:spPr>
      </p:pic>
      <p:sp>
        <p:nvSpPr>
          <p:cNvPr id="25" name="Shape 25"/>
          <p:cNvSpPr>
            <a:spLocks noGrp="1"/>
          </p:cNvSpPr>
          <p:nvPr>
            <p:ph type="title"/>
          </p:nvPr>
        </p:nvSpPr>
        <p:spPr>
          <a:prstGeom prst="rect">
            <a:avLst/>
          </a:prstGeom>
        </p:spPr>
        <p:txBody>
          <a:bodyPr/>
          <a:lstStyle>
            <a:lvl1pPr algn="ctr"/>
          </a:lstStyle>
          <a:p>
            <a:pPr>
              <a:defRPr sz="1800">
                <a:solidFill>
                  <a:srgbClr val="000000"/>
                </a:solidFill>
                <a:uFillTx/>
              </a:defRPr>
            </a:pPr>
            <a:r>
              <a:rPr lang="es-ES" sz="3200"/>
              <a:t>Expediente de Veterinaria</a:t>
            </a:r>
            <a:br>
              <a:rPr lang="es-ES" sz="3200"/>
            </a:br>
            <a:r>
              <a:rPr lang="es-ES" sz="3200"/>
              <a:t>OpenPaw</a:t>
            </a:r>
          </a:p>
        </p:txBody>
      </p:sp>
      <p:sp>
        <p:nvSpPr>
          <p:cNvPr id="26" name="Shape 26"/>
          <p:cNvSpPr>
            <a:spLocks noGrp="1"/>
          </p:cNvSpPr>
          <p:nvPr>
            <p:ph type="body" idx="1"/>
          </p:nvPr>
        </p:nvSpPr>
        <p:spPr>
          <a:prstGeom prst="rect">
            <a:avLst/>
          </a:prstGeom>
        </p:spPr>
        <p:txBody>
          <a:bodyPr lIns="38100" tIns="38100" rIns="38100" bIns="38100" anchor="t"/>
          <a:lstStyle/>
          <a:p>
            <a:pPr>
              <a:defRPr sz="1800">
                <a:solidFill>
                  <a:srgbClr val="000000"/>
                </a:solidFill>
                <a:uFillTx/>
              </a:defRPr>
            </a:pPr>
            <a:r>
              <a:rPr lang="es-ES"/>
              <a:t>Alex Joan Roblero Quiros</a:t>
            </a:r>
          </a:p>
          <a:p>
            <a:pPr>
              <a:defRPr sz="1800">
                <a:solidFill>
                  <a:srgbClr val="000000"/>
                </a:solidFill>
                <a:uFillTx/>
              </a:defRPr>
            </a:pPr>
            <a:r>
              <a:rPr lang="es-ES"/>
              <a:t>Roberto Benavente Jiménez </a:t>
            </a:r>
          </a:p>
          <a:p>
            <a:pPr>
              <a:defRPr sz="1800">
                <a:solidFill>
                  <a:srgbClr val="000000"/>
                </a:solidFill>
                <a:uFillTx/>
              </a:defRPr>
            </a:pPr>
            <a:r>
              <a:rPr lang="es-ES"/>
              <a:t>Roberth Mata Montenegro</a:t>
            </a:r>
          </a:p>
          <a:p>
            <a:pPr>
              <a:defRPr sz="1800">
                <a:solidFill>
                  <a:srgbClr val="000000"/>
                </a:solidFill>
                <a:uFillTx/>
              </a:defRPr>
            </a:pPr>
            <a:r>
              <a:rPr lang="es-ES"/>
              <a:t>Carlos Fabian Gutiérrez Barrios</a:t>
            </a:r>
          </a:p>
          <a:p>
            <a:pPr>
              <a:defRPr sz="1800">
                <a:solidFill>
                  <a:srgbClr val="000000"/>
                </a:solidFill>
                <a:uFillTx/>
              </a:defRPr>
            </a:pPr>
            <a:r>
              <a:rPr lang="es-ES"/>
              <a:t>Juarez Naranjo Zulliany María</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1.png"/>
          <p:cNvPicPr/>
          <p:nvPr/>
        </p:nvPicPr>
        <p:blipFill>
          <a:blip r:embed="rId3"/>
          <a:stretch>
            <a:fillRect/>
          </a:stretch>
        </p:blipFill>
        <p:spPr>
          <a:xfrm>
            <a:off x="7848600" y="6311900"/>
            <a:ext cx="1117600" cy="393700"/>
          </a:xfrm>
          <a:prstGeom prst="rect">
            <a:avLst/>
          </a:prstGeom>
          <a:ln w="12700">
            <a:miter lim="400000"/>
          </a:ln>
        </p:spPr>
      </p:pic>
      <p:sp>
        <p:nvSpPr>
          <p:cNvPr id="31" name="Shape 3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Why are we here?</a:t>
            </a:r>
          </a:p>
        </p:txBody>
      </p:sp>
      <p:sp>
        <p:nvSpPr>
          <p:cNvPr id="32" name="Shape 32"/>
          <p:cNvSpPr>
            <a:spLocks noGrp="1"/>
          </p:cNvSpPr>
          <p:nvPr>
            <p:ph type="body" idx="1"/>
          </p:nvPr>
        </p:nvSpPr>
        <p:spPr>
          <a:prstGeom prst="rect">
            <a:avLst/>
          </a:prstGeom>
        </p:spPr>
        <p:txBody>
          <a:bodyPr lIns="38100" tIns="38100" rIns="38100" bIns="38100" anchor="t"/>
          <a:lstStyle/>
          <a:p>
            <a:pPr>
              <a:defRPr sz="1800">
                <a:uFillTx/>
              </a:defRPr>
            </a:pPr>
            <a:r>
              <a:rPr lang="es-ES" sz="1800">
                <a:solidFill>
                  <a:srgbClr val="000000"/>
                </a:solidFill>
                <a:uFillTx/>
                <a:latin typeface="Calibri"/>
                <a:ea typeface="Calibri"/>
                <a:cs typeface="Calibri"/>
              </a:rPr>
              <a:t>Cubrir la alta demanda, ya que cada vez las personas tienen más mascotas </a:t>
            </a:r>
          </a:p>
          <a:p>
            <a:pPr>
              <a:defRPr sz="1800">
                <a:uFillTx/>
              </a:defRPr>
            </a:pPr>
            <a:r>
              <a:rPr lang="es-ES"/>
              <a:t>Los dueños necesitan mantenerse al tanto de la salud de sus mascotas </a:t>
            </a:r>
          </a:p>
          <a:p>
            <a:pPr>
              <a:defRPr sz="1800">
                <a:uFillTx/>
              </a:defRPr>
            </a:pPr>
            <a:r>
              <a:rPr lang="es-ES" sz="1800">
                <a:uFillTx/>
              </a:rPr>
              <a:t>Tener distintas elecciones de veterinarios que cubran la necesidad que se tenga</a:t>
            </a:r>
          </a:p>
        </p:txBody>
      </p:sp>
      <p:sp>
        <p:nvSpPr>
          <p:cNvPr id="33" name="Shape 33"/>
          <p:cNvSpPr/>
          <p:nvPr/>
        </p:nvSpPr>
        <p:spPr>
          <a:xfrm>
            <a:off x="1800578" y="4922896"/>
            <a:ext cx="7720410" cy="569387"/>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3600"/>
            </a:lvl1pPr>
          </a:lstStyle>
          <a:p>
            <a:pPr>
              <a:defRPr sz="1800">
                <a:uFillTx/>
              </a:defRPr>
            </a:pPr>
            <a:r>
              <a:rPr lang="es-ES" sz="3200">
                <a:uFillTx/>
              </a:rPr>
              <a:t>Proteger la salud de los animales </a:t>
            </a:r>
            <a:endParaRPr sz="3200">
              <a:uFillTx/>
            </a:endParaRPr>
          </a:p>
        </p:txBody>
      </p:sp>
      <p:pic>
        <p:nvPicPr>
          <p:cNvPr id="34" name="image2.png"/>
          <p:cNvPicPr/>
          <p:nvPr/>
        </p:nvPicPr>
        <p:blipFill>
          <a:blip r:embed="rId4"/>
          <a:srcRect l="330" t="7527" r="549" b="-6989"/>
          <a:stretch>
            <a:fillRect/>
          </a:stretch>
        </p:blipFill>
        <p:spPr>
          <a:xfrm>
            <a:off x="182031" y="4341639"/>
            <a:ext cx="8494090" cy="1744509"/>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1.png"/>
          <p:cNvPicPr/>
          <p:nvPr/>
        </p:nvPicPr>
        <p:blipFill>
          <a:blip r:embed="rId2"/>
          <a:stretch>
            <a:fillRect/>
          </a:stretch>
        </p:blipFill>
        <p:spPr>
          <a:xfrm>
            <a:off x="7848600" y="6311900"/>
            <a:ext cx="1117600" cy="393700"/>
          </a:xfrm>
          <a:prstGeom prst="rect">
            <a:avLst/>
          </a:prstGeom>
          <a:ln w="12700">
            <a:miter lim="400000"/>
          </a:ln>
        </p:spPr>
      </p:pic>
      <p:sp>
        <p:nvSpPr>
          <p:cNvPr id="39" name="Shape 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elevator pitch</a:t>
            </a:r>
          </a:p>
        </p:txBody>
      </p:sp>
      <p:sp>
        <p:nvSpPr>
          <p:cNvPr id="40" name="Shape 40"/>
          <p:cNvSpPr>
            <a:spLocks noGrp="1"/>
          </p:cNvSpPr>
          <p:nvPr>
            <p:ph type="body" idx="1"/>
          </p:nvPr>
        </p:nvSpPr>
        <p:spPr>
          <a:xfrm>
            <a:off x="486875" y="1273268"/>
            <a:ext cx="8229600" cy="4525964"/>
          </a:xfrm>
          <a:prstGeom prst="rect">
            <a:avLst/>
          </a:prstGeom>
        </p:spPr>
        <p:txBody>
          <a:bodyPr lIns="38100" tIns="38100" rIns="38100" bIns="38100" anchor="t"/>
          <a:lstStyle/>
          <a:p>
            <a:pPr>
              <a:lnSpc>
                <a:spcPct val="90000"/>
              </a:lnSpc>
              <a:defRPr sz="1800">
                <a:uFillTx/>
              </a:defRPr>
            </a:pPr>
            <a:r>
              <a:rPr sz="3200">
                <a:uFill>
                  <a:solidFill/>
                </a:uFill>
              </a:rPr>
              <a:t>For </a:t>
            </a:r>
            <a:r>
              <a:rPr lang="en-US" err="1">
                <a:solidFill>
                  <a:srgbClr val="00B050"/>
                </a:solidFill>
                <a:ea typeface="+mn-lt"/>
                <a:cs typeface="+mn-lt"/>
              </a:rPr>
              <a:t>Dueños</a:t>
            </a:r>
            <a:r>
              <a:rPr lang="en-US">
                <a:solidFill>
                  <a:srgbClr val="00B050"/>
                </a:solidFill>
                <a:ea typeface="+mn-lt"/>
                <a:cs typeface="+mn-lt"/>
              </a:rPr>
              <a:t> de </a:t>
            </a:r>
            <a:r>
              <a:rPr lang="en-US" err="1">
                <a:solidFill>
                  <a:srgbClr val="00B050"/>
                </a:solidFill>
                <a:ea typeface="+mn-lt"/>
                <a:cs typeface="+mn-lt"/>
              </a:rPr>
              <a:t>mascotas</a:t>
            </a:r>
            <a:r>
              <a:rPr lang="en-US">
                <a:solidFill>
                  <a:srgbClr val="00B050"/>
                </a:solidFill>
                <a:ea typeface="+mn-lt"/>
                <a:cs typeface="+mn-lt"/>
              </a:rPr>
              <a:t> y </a:t>
            </a:r>
            <a:r>
              <a:rPr lang="en-US" err="1">
                <a:solidFill>
                  <a:srgbClr val="00B050"/>
                </a:solidFill>
                <a:ea typeface="+mn-lt"/>
                <a:cs typeface="+mn-lt"/>
              </a:rPr>
              <a:t>clínicas</a:t>
            </a:r>
            <a:r>
              <a:rPr lang="en-US">
                <a:solidFill>
                  <a:srgbClr val="00B050"/>
                </a:solidFill>
                <a:ea typeface="+mn-lt"/>
                <a:cs typeface="+mn-lt"/>
              </a:rPr>
              <a:t> </a:t>
            </a:r>
            <a:r>
              <a:rPr lang="en-US" err="1">
                <a:solidFill>
                  <a:srgbClr val="00B050"/>
                </a:solidFill>
                <a:ea typeface="+mn-lt"/>
                <a:cs typeface="+mn-lt"/>
              </a:rPr>
              <a:t>veterinarias</a:t>
            </a:r>
            <a:endParaRPr lang="en-US" err="1">
              <a:solidFill>
                <a:srgbClr val="00B050"/>
              </a:solidFill>
              <a:uFill>
                <a:solidFill/>
              </a:uFill>
            </a:endParaRPr>
          </a:p>
          <a:p>
            <a:pPr>
              <a:lnSpc>
                <a:spcPct val="90000"/>
              </a:lnSpc>
              <a:defRPr sz="1800">
                <a:uFillTx/>
              </a:defRPr>
            </a:pPr>
            <a:r>
              <a:rPr lang="en-US" sz="3200" err="1">
                <a:uFill>
                  <a:solidFill/>
                </a:uFill>
              </a:rPr>
              <a:t>who</a:t>
            </a:r>
            <a:r>
              <a:rPr sz="3200">
                <a:uFill>
                  <a:solidFill/>
                </a:uFill>
              </a:rPr>
              <a:t> </a:t>
            </a:r>
            <a:r>
              <a:rPr lang="en-US" err="1">
                <a:solidFill>
                  <a:srgbClr val="00B050"/>
                </a:solidFill>
                <a:ea typeface="+mn-lt"/>
                <a:cs typeface="+mn-lt"/>
              </a:rPr>
              <a:t>Necesitan</a:t>
            </a:r>
            <a:r>
              <a:rPr lang="en-US">
                <a:solidFill>
                  <a:srgbClr val="00B050"/>
                </a:solidFill>
                <a:ea typeface="+mn-lt"/>
                <a:cs typeface="+mn-lt"/>
              </a:rPr>
              <a:t> </a:t>
            </a:r>
            <a:r>
              <a:rPr lang="en-US" err="1">
                <a:solidFill>
                  <a:srgbClr val="00B050"/>
                </a:solidFill>
                <a:ea typeface="+mn-lt"/>
                <a:cs typeface="+mn-lt"/>
              </a:rPr>
              <a:t>una</a:t>
            </a:r>
            <a:r>
              <a:rPr lang="en-US">
                <a:solidFill>
                  <a:srgbClr val="00B050"/>
                </a:solidFill>
                <a:ea typeface="+mn-lt"/>
                <a:cs typeface="+mn-lt"/>
              </a:rPr>
              <a:t> forma </a:t>
            </a:r>
            <a:r>
              <a:rPr lang="en-US" err="1">
                <a:solidFill>
                  <a:srgbClr val="00B050"/>
                </a:solidFill>
                <a:ea typeface="+mn-lt"/>
                <a:cs typeface="+mn-lt"/>
              </a:rPr>
              <a:t>rápida</a:t>
            </a:r>
            <a:r>
              <a:rPr lang="en-US">
                <a:solidFill>
                  <a:srgbClr val="00B050"/>
                </a:solidFill>
                <a:ea typeface="+mn-lt"/>
                <a:cs typeface="+mn-lt"/>
              </a:rPr>
              <a:t> y </a:t>
            </a:r>
            <a:r>
              <a:rPr lang="en-US" err="1">
                <a:solidFill>
                  <a:srgbClr val="00B050"/>
                </a:solidFill>
                <a:ea typeface="+mn-lt"/>
                <a:cs typeface="+mn-lt"/>
              </a:rPr>
              <a:t>organizada</a:t>
            </a:r>
            <a:r>
              <a:rPr lang="en-US">
                <a:solidFill>
                  <a:srgbClr val="00B050"/>
                </a:solidFill>
                <a:ea typeface="+mn-lt"/>
                <a:cs typeface="+mn-lt"/>
              </a:rPr>
              <a:t> de </a:t>
            </a:r>
            <a:r>
              <a:rPr lang="en-US" err="1">
                <a:solidFill>
                  <a:srgbClr val="00B050"/>
                </a:solidFill>
                <a:ea typeface="+mn-lt"/>
                <a:cs typeface="+mn-lt"/>
              </a:rPr>
              <a:t>gestionar</a:t>
            </a:r>
            <a:r>
              <a:rPr lang="en-US">
                <a:solidFill>
                  <a:srgbClr val="00B050"/>
                </a:solidFill>
                <a:ea typeface="+mn-lt"/>
                <a:cs typeface="+mn-lt"/>
              </a:rPr>
              <a:t> la </a:t>
            </a:r>
            <a:r>
              <a:rPr lang="en-US" err="1">
                <a:solidFill>
                  <a:srgbClr val="00B050"/>
                </a:solidFill>
                <a:ea typeface="+mn-lt"/>
                <a:cs typeface="+mn-lt"/>
              </a:rPr>
              <a:t>salud</a:t>
            </a:r>
            <a:r>
              <a:rPr lang="en-US">
                <a:solidFill>
                  <a:srgbClr val="00B050"/>
                </a:solidFill>
                <a:ea typeface="+mn-lt"/>
                <a:cs typeface="+mn-lt"/>
              </a:rPr>
              <a:t> de sus </a:t>
            </a:r>
            <a:r>
              <a:rPr lang="en-US" err="1">
                <a:solidFill>
                  <a:srgbClr val="00B050"/>
                </a:solidFill>
                <a:ea typeface="+mn-lt"/>
                <a:cs typeface="+mn-lt"/>
              </a:rPr>
              <a:t>pacientes</a:t>
            </a:r>
            <a:endParaRPr lang="en-US">
              <a:solidFill>
                <a:srgbClr val="00B050"/>
              </a:solidFill>
              <a:ea typeface="+mn-lt"/>
              <a:cs typeface="+mn-lt"/>
            </a:endParaRPr>
          </a:p>
          <a:p>
            <a:pPr>
              <a:lnSpc>
                <a:spcPct val="90000"/>
              </a:lnSpc>
              <a:defRPr sz="1800">
                <a:uFillTx/>
              </a:defRPr>
            </a:pPr>
            <a:r>
              <a:rPr sz="3200">
                <a:uFill>
                  <a:solidFill/>
                </a:uFill>
              </a:rPr>
              <a:t>the </a:t>
            </a:r>
            <a:r>
              <a:rPr lang="es-ES" sz="1800" err="1">
                <a:solidFill>
                  <a:srgbClr val="00B050"/>
                </a:solidFill>
              </a:rPr>
              <a:t>OpenPaw</a:t>
            </a:r>
            <a:endParaRPr lang="en-US" err="1">
              <a:ea typeface="+mn-lt"/>
              <a:cs typeface="+mn-lt"/>
            </a:endParaRPr>
          </a:p>
          <a:p>
            <a:pPr>
              <a:lnSpc>
                <a:spcPct val="90000"/>
              </a:lnSpc>
              <a:defRPr sz="1800">
                <a:uFillTx/>
              </a:defRPr>
            </a:pPr>
            <a:r>
              <a:rPr sz="3200" err="1">
                <a:uFill>
                  <a:solidFill/>
                </a:uFill>
              </a:rPr>
              <a:t>is</a:t>
            </a:r>
            <a:r>
              <a:rPr sz="3200">
                <a:uFill>
                  <a:solidFill/>
                </a:uFill>
              </a:rPr>
              <a:t> a </a:t>
            </a:r>
            <a:r>
              <a:rPr lang="es-ES">
                <a:solidFill>
                  <a:srgbClr val="00B050"/>
                </a:solidFill>
                <a:uFill>
                  <a:solidFill>
                    <a:srgbClr val="008F00"/>
                  </a:solidFill>
                </a:uFill>
              </a:rPr>
              <a:t>Plataforma de gestión clínica veterinaria, nombre: </a:t>
            </a:r>
            <a:r>
              <a:rPr lang="es-ES" err="1">
                <a:solidFill>
                  <a:srgbClr val="00B050"/>
                </a:solidFill>
                <a:uFill>
                  <a:solidFill>
                    <a:srgbClr val="008F00"/>
                  </a:solidFill>
                </a:uFill>
                <a:ea typeface="+mn-lt"/>
                <a:cs typeface="+mn-lt"/>
              </a:rPr>
              <a:t>OpenPaw</a:t>
            </a:r>
          </a:p>
          <a:p>
            <a:pPr>
              <a:lnSpc>
                <a:spcPct val="90000"/>
              </a:lnSpc>
              <a:defRPr sz="1800">
                <a:uFillTx/>
              </a:defRPr>
            </a:pPr>
            <a:r>
              <a:rPr sz="3200">
                <a:uFill>
                  <a:solidFill/>
                </a:uFill>
              </a:rPr>
              <a:t>that </a:t>
            </a:r>
            <a:r>
              <a:rPr lang="en-US" err="1">
                <a:solidFill>
                  <a:srgbClr val="00B050"/>
                </a:solidFill>
                <a:ea typeface="+mn-lt"/>
                <a:cs typeface="+mn-lt"/>
              </a:rPr>
              <a:t>Centraliza</a:t>
            </a:r>
            <a:r>
              <a:rPr lang="en-US">
                <a:solidFill>
                  <a:srgbClr val="00B050"/>
                </a:solidFill>
                <a:ea typeface="+mn-lt"/>
                <a:cs typeface="+mn-lt"/>
              </a:rPr>
              <a:t> </a:t>
            </a:r>
            <a:r>
              <a:rPr lang="en-US" err="1">
                <a:solidFill>
                  <a:srgbClr val="00B050"/>
                </a:solidFill>
                <a:ea typeface="+mn-lt"/>
                <a:cs typeface="+mn-lt"/>
              </a:rPr>
              <a:t>historial</a:t>
            </a:r>
            <a:r>
              <a:rPr lang="en-US">
                <a:solidFill>
                  <a:srgbClr val="00B050"/>
                </a:solidFill>
                <a:ea typeface="+mn-lt"/>
                <a:cs typeface="+mn-lt"/>
              </a:rPr>
              <a:t> </a:t>
            </a:r>
            <a:r>
              <a:rPr lang="en-US" err="1">
                <a:solidFill>
                  <a:srgbClr val="00B050"/>
                </a:solidFill>
                <a:ea typeface="+mn-lt"/>
                <a:cs typeface="+mn-lt"/>
              </a:rPr>
              <a:t>médico</a:t>
            </a:r>
            <a:r>
              <a:rPr lang="en-US" sz="3200">
                <a:solidFill>
                  <a:srgbClr val="00B050"/>
                </a:solidFill>
                <a:ea typeface="+mn-lt"/>
                <a:cs typeface="+mn-lt"/>
              </a:rPr>
              <a:t>, </a:t>
            </a:r>
            <a:r>
              <a:rPr lang="en-US" err="1">
                <a:solidFill>
                  <a:srgbClr val="00B050"/>
                </a:solidFill>
                <a:ea typeface="+mn-lt"/>
                <a:cs typeface="+mn-lt"/>
              </a:rPr>
              <a:t>citas</a:t>
            </a:r>
            <a:r>
              <a:rPr lang="en-US">
                <a:solidFill>
                  <a:srgbClr val="00B050"/>
                </a:solidFill>
                <a:ea typeface="+mn-lt"/>
                <a:cs typeface="+mn-lt"/>
              </a:rPr>
              <a:t> y </a:t>
            </a:r>
            <a:r>
              <a:rPr lang="en-US" err="1">
                <a:solidFill>
                  <a:srgbClr val="00B050"/>
                </a:solidFill>
                <a:ea typeface="+mn-lt"/>
                <a:cs typeface="+mn-lt"/>
              </a:rPr>
              <a:t>tratamientos</a:t>
            </a:r>
            <a:r>
              <a:rPr lang="en-US">
                <a:solidFill>
                  <a:srgbClr val="00B050"/>
                </a:solidFill>
                <a:ea typeface="+mn-lt"/>
                <a:cs typeface="+mn-lt"/>
              </a:rPr>
              <a:t> </a:t>
            </a:r>
            <a:r>
              <a:rPr lang="en-US" err="1">
                <a:solidFill>
                  <a:srgbClr val="00B050"/>
                </a:solidFill>
                <a:ea typeface="+mn-lt"/>
                <a:cs typeface="+mn-lt"/>
              </a:rPr>
              <a:t>en</a:t>
            </a:r>
            <a:r>
              <a:rPr lang="en-US">
                <a:solidFill>
                  <a:srgbClr val="00B050"/>
                </a:solidFill>
                <a:ea typeface="+mn-lt"/>
                <a:cs typeface="+mn-lt"/>
              </a:rPr>
              <a:t> un solo </a:t>
            </a:r>
            <a:r>
              <a:rPr lang="en-US" err="1">
                <a:solidFill>
                  <a:srgbClr val="00B050"/>
                </a:solidFill>
                <a:ea typeface="+mn-lt"/>
                <a:cs typeface="+mn-lt"/>
              </a:rPr>
              <a:t>lugar</a:t>
            </a:r>
            <a:r>
              <a:rPr lang="en-US">
                <a:solidFill>
                  <a:srgbClr val="00B050"/>
                </a:solidFill>
                <a:ea typeface="+mn-lt"/>
                <a:cs typeface="+mn-lt"/>
              </a:rPr>
              <a:t> </a:t>
            </a:r>
            <a:r>
              <a:rPr lang="en-US" err="1">
                <a:solidFill>
                  <a:srgbClr val="00B050"/>
                </a:solidFill>
                <a:ea typeface="+mn-lt"/>
                <a:cs typeface="+mn-lt"/>
              </a:rPr>
              <a:t>accesible</a:t>
            </a:r>
            <a:endParaRPr lang="en-US" sz="3200" err="1">
              <a:solidFill>
                <a:srgbClr val="00B050"/>
              </a:solidFill>
              <a:uFill>
                <a:solidFill/>
              </a:uFill>
              <a:ea typeface="+mn-lt"/>
              <a:cs typeface="+mn-lt"/>
            </a:endParaRPr>
          </a:p>
          <a:p>
            <a:pPr>
              <a:lnSpc>
                <a:spcPct val="90000"/>
              </a:lnSpc>
              <a:defRPr sz="1800">
                <a:uFillTx/>
              </a:defRPr>
            </a:pPr>
            <a:r>
              <a:rPr sz="3200">
                <a:uFill>
                  <a:solidFill/>
                </a:uFill>
              </a:rPr>
              <a:t>Unlike </a:t>
            </a:r>
            <a:r>
              <a:rPr lang="en-US">
                <a:solidFill>
                  <a:srgbClr val="00B050"/>
                </a:solidFill>
                <a:ea typeface="+mn-lt"/>
                <a:cs typeface="+mn-lt"/>
              </a:rPr>
              <a:t>El </a:t>
            </a:r>
            <a:r>
              <a:rPr lang="en-US" err="1">
                <a:solidFill>
                  <a:srgbClr val="00B050"/>
                </a:solidFill>
                <a:ea typeface="+mn-lt"/>
                <a:cs typeface="+mn-lt"/>
              </a:rPr>
              <a:t>uso</a:t>
            </a:r>
            <a:r>
              <a:rPr lang="en-US">
                <a:solidFill>
                  <a:srgbClr val="00B050"/>
                </a:solidFill>
                <a:ea typeface="+mn-lt"/>
                <a:cs typeface="+mn-lt"/>
              </a:rPr>
              <a:t> de </a:t>
            </a:r>
            <a:r>
              <a:rPr lang="en-US" err="1">
                <a:solidFill>
                  <a:srgbClr val="00B050"/>
                </a:solidFill>
                <a:ea typeface="+mn-lt"/>
                <a:cs typeface="+mn-lt"/>
              </a:rPr>
              <a:t>papel</a:t>
            </a:r>
            <a:r>
              <a:rPr lang="en-US">
                <a:solidFill>
                  <a:srgbClr val="00B050"/>
                </a:solidFill>
                <a:ea typeface="+mn-lt"/>
                <a:cs typeface="+mn-lt"/>
              </a:rPr>
              <a:t>, Excel o agendas </a:t>
            </a:r>
            <a:r>
              <a:rPr lang="en-US" err="1">
                <a:solidFill>
                  <a:srgbClr val="00B050"/>
                </a:solidFill>
                <a:ea typeface="+mn-lt"/>
                <a:cs typeface="+mn-lt"/>
              </a:rPr>
              <a:t>físicas</a:t>
            </a:r>
            <a:endParaRPr lang="en-US" sz="3200" err="1">
              <a:solidFill>
                <a:srgbClr val="00B050"/>
              </a:solidFill>
              <a:uFill>
                <a:solidFill/>
              </a:uFill>
            </a:endParaRPr>
          </a:p>
          <a:p>
            <a:pPr>
              <a:lnSpc>
                <a:spcPct val="90000"/>
              </a:lnSpc>
              <a:defRPr sz="1800">
                <a:uFillTx/>
              </a:defRPr>
            </a:pPr>
            <a:r>
              <a:rPr sz="3200">
                <a:uFill>
                  <a:solidFill/>
                </a:uFill>
              </a:rPr>
              <a:t>our project </a:t>
            </a:r>
            <a:r>
              <a:rPr lang="en-US">
                <a:solidFill>
                  <a:srgbClr val="00B050"/>
                </a:solidFill>
                <a:ea typeface="+mn-lt"/>
                <a:cs typeface="+mn-lt"/>
              </a:rPr>
              <a:t>Integra </a:t>
            </a:r>
            <a:r>
              <a:rPr lang="en-US" err="1">
                <a:solidFill>
                  <a:srgbClr val="00B050"/>
                </a:solidFill>
                <a:ea typeface="+mn-lt"/>
                <a:cs typeface="+mn-lt"/>
              </a:rPr>
              <a:t>expediente</a:t>
            </a:r>
            <a:r>
              <a:rPr lang="en-US">
                <a:solidFill>
                  <a:srgbClr val="00B050"/>
                </a:solidFill>
                <a:ea typeface="+mn-lt"/>
                <a:cs typeface="+mn-lt"/>
              </a:rPr>
              <a:t>, </a:t>
            </a:r>
            <a:r>
              <a:rPr lang="en-US" err="1">
                <a:solidFill>
                  <a:srgbClr val="00B050"/>
                </a:solidFill>
                <a:ea typeface="+mn-lt"/>
                <a:cs typeface="+mn-lt"/>
              </a:rPr>
              <a:t>citas</a:t>
            </a:r>
            <a:r>
              <a:rPr lang="en-US">
                <a:solidFill>
                  <a:srgbClr val="00B050"/>
                </a:solidFill>
                <a:ea typeface="+mn-lt"/>
                <a:cs typeface="+mn-lt"/>
              </a:rPr>
              <a:t> y </a:t>
            </a:r>
            <a:r>
              <a:rPr lang="en-US" err="1">
                <a:solidFill>
                  <a:srgbClr val="00B050"/>
                </a:solidFill>
                <a:ea typeface="+mn-lt"/>
                <a:cs typeface="+mn-lt"/>
              </a:rPr>
              <a:t>tratamientos</a:t>
            </a:r>
            <a:r>
              <a:rPr lang="en-US">
                <a:solidFill>
                  <a:srgbClr val="00B050"/>
                </a:solidFill>
                <a:ea typeface="+mn-lt"/>
                <a:cs typeface="+mn-lt"/>
              </a:rPr>
              <a:t> </a:t>
            </a:r>
            <a:r>
              <a:rPr lang="en-US" err="1">
                <a:solidFill>
                  <a:srgbClr val="00B050"/>
                </a:solidFill>
                <a:ea typeface="+mn-lt"/>
                <a:cs typeface="+mn-lt"/>
              </a:rPr>
              <a:t>en</a:t>
            </a:r>
            <a:r>
              <a:rPr lang="en-US">
                <a:solidFill>
                  <a:srgbClr val="00B050"/>
                </a:solidFill>
                <a:ea typeface="+mn-lt"/>
                <a:cs typeface="+mn-lt"/>
              </a:rPr>
              <a:t> </a:t>
            </a:r>
            <a:r>
              <a:rPr lang="en-US" err="1">
                <a:solidFill>
                  <a:srgbClr val="00B050"/>
                </a:solidFill>
                <a:ea typeface="+mn-lt"/>
                <a:cs typeface="+mn-lt"/>
              </a:rPr>
              <a:t>una</a:t>
            </a:r>
            <a:r>
              <a:rPr lang="en-US">
                <a:solidFill>
                  <a:srgbClr val="00B050"/>
                </a:solidFill>
                <a:ea typeface="+mn-lt"/>
                <a:cs typeface="+mn-lt"/>
              </a:rPr>
              <a:t> </a:t>
            </a:r>
            <a:r>
              <a:rPr lang="en-US" err="1">
                <a:solidFill>
                  <a:srgbClr val="00B050"/>
                </a:solidFill>
                <a:ea typeface="+mn-lt"/>
                <a:cs typeface="+mn-lt"/>
              </a:rPr>
              <a:t>plataforma</a:t>
            </a:r>
            <a:r>
              <a:rPr lang="en-US">
                <a:solidFill>
                  <a:srgbClr val="00B050"/>
                </a:solidFill>
                <a:ea typeface="+mn-lt"/>
                <a:cs typeface="+mn-lt"/>
              </a:rPr>
              <a:t> digital simple y </a:t>
            </a:r>
            <a:r>
              <a:rPr lang="en-US" err="1">
                <a:solidFill>
                  <a:srgbClr val="00B050"/>
                </a:solidFill>
                <a:ea typeface="+mn-lt"/>
                <a:cs typeface="+mn-lt"/>
              </a:rPr>
              <a:t>segura</a:t>
            </a:r>
            <a:endParaRPr lang="en-US" sz="3200" err="1">
              <a:solidFill>
                <a:srgbClr val="00B050"/>
              </a:solidFill>
              <a:uFill>
                <a:solidFill/>
              </a:uFill>
              <a:ea typeface="+mn-lt"/>
              <a:cs typeface="+mn-lt"/>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p:nvPr/>
        </p:nvSpPr>
        <p:spPr>
          <a:xfrm>
            <a:off x="2576366" y="1826114"/>
            <a:ext cx="3822700" cy="5029200"/>
          </a:xfrm>
          <a:prstGeom prst="rect">
            <a:avLst/>
          </a:prstGeom>
          <a:solidFill>
            <a:srgbClr val="A5C1DF"/>
          </a:solidFill>
          <a:ln w="25400">
            <a:solidFill>
              <a:srgbClr val="49729C"/>
            </a:solidFill>
            <a:round/>
          </a:ln>
        </p:spPr>
        <p:txBody>
          <a:bodyPr lIns="38100" tIns="38100" rIns="38100" bIns="38100" anchor="ctr"/>
          <a:lstStyle/>
          <a:p>
            <a:pPr algn="ctr">
              <a:defRPr sz="1100">
                <a:solidFill>
                  <a:srgbClr val="FFFFFF"/>
                </a:solidFill>
                <a:uFill>
                  <a:solidFill>
                    <a:srgbClr val="FFFFFF"/>
                  </a:solidFill>
                </a:uFill>
              </a:defRPr>
            </a:pPr>
            <a:endParaRPr lang="en-US"/>
          </a:p>
        </p:txBody>
      </p:sp>
      <p:sp>
        <p:nvSpPr>
          <p:cNvPr id="44" name="Shape 44"/>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Product box</a:t>
            </a:r>
          </a:p>
        </p:txBody>
      </p:sp>
      <p:sp>
        <p:nvSpPr>
          <p:cNvPr id="45" name="Shape 45"/>
          <p:cNvSpPr/>
          <p:nvPr/>
        </p:nvSpPr>
        <p:spPr>
          <a:xfrm>
            <a:off x="3276600" y="1915179"/>
            <a:ext cx="77009" cy="353943"/>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lvl="0">
              <a:defRPr sz="1800">
                <a:uFillTx/>
              </a:defRPr>
            </a:pPr>
            <a:endParaRPr>
              <a:solidFill>
                <a:srgbClr val="000000"/>
              </a:solidFill>
              <a:latin typeface="Calibri"/>
              <a:ea typeface="Calibri"/>
              <a:cs typeface="Calibri"/>
            </a:endParaRPr>
          </a:p>
        </p:txBody>
      </p:sp>
      <p:sp>
        <p:nvSpPr>
          <p:cNvPr id="46" name="Shape 46"/>
          <p:cNvSpPr/>
          <p:nvPr/>
        </p:nvSpPr>
        <p:spPr>
          <a:xfrm>
            <a:off x="3124200" y="2514600"/>
            <a:ext cx="3060700" cy="1524000"/>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47" name="Shape 47"/>
          <p:cNvSpPr/>
          <p:nvPr/>
        </p:nvSpPr>
        <p:spPr>
          <a:xfrm>
            <a:off x="3655988" y="3058179"/>
            <a:ext cx="1979588"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fun picture</a:t>
            </a:r>
          </a:p>
        </p:txBody>
      </p:sp>
      <p:sp>
        <p:nvSpPr>
          <p:cNvPr id="48" name="Shape 48"/>
          <p:cNvSpPr/>
          <p:nvPr/>
        </p:nvSpPr>
        <p:spPr>
          <a:xfrm>
            <a:off x="2728072" y="4209907"/>
            <a:ext cx="2968736" cy="907941"/>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2800"/>
            </a:lvl1pPr>
          </a:lstStyle>
          <a:p>
            <a:pPr>
              <a:defRPr sz="1800">
                <a:uFillTx/>
              </a:defRPr>
            </a:pPr>
            <a:r>
              <a:rPr lang="en-US" sz="1800" b="1"/>
              <a:t>"La </a:t>
            </a:r>
            <a:r>
              <a:rPr lang="en-US" sz="1800" b="1" err="1"/>
              <a:t>salud</a:t>
            </a:r>
            <a:r>
              <a:rPr lang="en-US" sz="1800" b="1"/>
              <a:t> de </a:t>
            </a:r>
            <a:r>
              <a:rPr lang="en-US" sz="1800" b="1" err="1"/>
              <a:t>cada</a:t>
            </a:r>
            <a:r>
              <a:rPr lang="en-US" sz="1800" b="1"/>
              <a:t> </a:t>
            </a:r>
            <a:r>
              <a:rPr lang="en-US" sz="1800" b="1" err="1"/>
              <a:t>mascota</a:t>
            </a:r>
            <a:r>
              <a:rPr lang="en-US" sz="1800" b="1"/>
              <a:t>, al </a:t>
            </a:r>
            <a:r>
              <a:rPr lang="en-US" sz="1800" b="1" err="1"/>
              <a:t>alcance</a:t>
            </a:r>
            <a:r>
              <a:rPr lang="en-US" sz="1800" b="1"/>
              <a:t> de </a:t>
            </a:r>
            <a:r>
              <a:rPr lang="en-US" sz="1800" b="1" err="1"/>
              <a:t>una</a:t>
            </a:r>
            <a:r>
              <a:rPr lang="en-US" sz="1800" b="1"/>
              <a:t> pata."</a:t>
            </a:r>
            <a:endParaRPr lang="es-ES"/>
          </a:p>
          <a:p>
            <a:pPr lvl="0">
              <a:defRPr sz="1800">
                <a:uFillTx/>
              </a:defRPr>
            </a:pPr>
            <a:endParaRPr>
              <a:solidFill>
                <a:srgbClr val="000000"/>
              </a:solidFill>
              <a:latin typeface="Calibri"/>
              <a:ea typeface="Calibri"/>
              <a:cs typeface="Calibri"/>
            </a:endParaRPr>
          </a:p>
        </p:txBody>
      </p:sp>
      <p:sp>
        <p:nvSpPr>
          <p:cNvPr id="49" name="Shape 49"/>
          <p:cNvSpPr/>
          <p:nvPr/>
        </p:nvSpPr>
        <p:spPr>
          <a:xfrm>
            <a:off x="2816207" y="5292820"/>
            <a:ext cx="3576300" cy="630942"/>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marL="285750" indent="-285750" algn="l">
              <a:buFont typeface="Arial"/>
              <a:buChar char="•"/>
              <a:defRPr sz="1800">
                <a:uFillTx/>
              </a:defRPr>
            </a:pPr>
            <a:r>
              <a:rPr lang="en-US" sz="1800" err="1"/>
              <a:t>Expedientes</a:t>
            </a:r>
            <a:r>
              <a:rPr lang="en-US" sz="1800"/>
              <a:t> </a:t>
            </a:r>
            <a:r>
              <a:rPr lang="en-US" sz="1800" err="1"/>
              <a:t>veterinarios</a:t>
            </a:r>
            <a:r>
              <a:rPr lang="en-US" sz="1800"/>
              <a:t> </a:t>
            </a:r>
            <a:r>
              <a:rPr lang="en-US" sz="1800" err="1"/>
              <a:t>digitales</a:t>
            </a:r>
            <a:r>
              <a:rPr lang="en-US" sz="1800"/>
              <a:t>.</a:t>
            </a:r>
            <a:endParaRPr lang="es-ES"/>
          </a:p>
          <a:p>
            <a:pPr marL="285750" lvl="0" indent="-285750">
              <a:buFont typeface="Arial"/>
              <a:buChar char="•"/>
              <a:defRPr sz="1800">
                <a:uFillTx/>
              </a:defRPr>
            </a:pPr>
            <a:endParaRPr>
              <a:solidFill>
                <a:srgbClr val="000000"/>
              </a:solidFill>
              <a:latin typeface="Calibri"/>
              <a:ea typeface="Calibri"/>
              <a:cs typeface="Calibri"/>
            </a:endParaRPr>
          </a:p>
        </p:txBody>
      </p:sp>
      <p:sp>
        <p:nvSpPr>
          <p:cNvPr id="50" name="Shape 50"/>
          <p:cNvSpPr/>
          <p:nvPr/>
        </p:nvSpPr>
        <p:spPr>
          <a:xfrm>
            <a:off x="2816206" y="4944381"/>
            <a:ext cx="2840521" cy="353943"/>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marL="285750" indent="-285750">
              <a:buFont typeface="Arial"/>
              <a:buChar char="•"/>
              <a:defRPr sz="1800">
                <a:uFillTx/>
              </a:defRPr>
            </a:pPr>
            <a:r>
              <a:rPr lang="en-US" sz="1800" err="1"/>
              <a:t>Historial</a:t>
            </a:r>
            <a:r>
              <a:rPr lang="en-US" sz="1800"/>
              <a:t> </a:t>
            </a:r>
            <a:r>
              <a:rPr lang="en-US" sz="1800" err="1"/>
              <a:t>médico</a:t>
            </a:r>
            <a:r>
              <a:rPr lang="en-US" sz="1800"/>
              <a:t> </a:t>
            </a:r>
            <a:r>
              <a:rPr lang="en-US" sz="1800" err="1"/>
              <a:t>completo</a:t>
            </a:r>
            <a:endParaRPr sz="2800" err="1">
              <a:uFill>
                <a:solidFill/>
              </a:uFill>
            </a:endParaRPr>
          </a:p>
        </p:txBody>
      </p:sp>
      <p:sp>
        <p:nvSpPr>
          <p:cNvPr id="51" name="Shape 51"/>
          <p:cNvSpPr/>
          <p:nvPr/>
        </p:nvSpPr>
        <p:spPr>
          <a:xfrm>
            <a:off x="2816206" y="5673484"/>
            <a:ext cx="2421272" cy="630942"/>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2800"/>
            </a:lvl1pPr>
          </a:lstStyle>
          <a:p>
            <a:pPr marL="285750" indent="-285750">
              <a:buFont typeface="Arial"/>
              <a:buChar char="•"/>
              <a:defRPr sz="1800">
                <a:uFillTx/>
              </a:defRPr>
            </a:pPr>
            <a:r>
              <a:rPr lang="en-US" sz="1800"/>
              <a:t>Agenda de </a:t>
            </a:r>
            <a:r>
              <a:rPr lang="en-US" sz="1800" err="1"/>
              <a:t>citas</a:t>
            </a:r>
            <a:r>
              <a:rPr lang="en-US" sz="1800"/>
              <a:t> </a:t>
            </a:r>
            <a:r>
              <a:rPr lang="en-US" sz="1800" err="1"/>
              <a:t>integrada</a:t>
            </a:r>
            <a:endParaRPr sz="2800" err="1">
              <a:uFill>
                <a:solidFill/>
              </a:uFill>
            </a:endParaRPr>
          </a:p>
        </p:txBody>
      </p:sp>
      <p:pic>
        <p:nvPicPr>
          <p:cNvPr id="2" name="Imagen 1" descr="Imagen que contiene pequeño, café, computadora, tabla&#10;&#10;El contenido generado por IA puede ser incorrecto.">
            <a:extLst>
              <a:ext uri="{FF2B5EF4-FFF2-40B4-BE49-F238E27FC236}">
                <a16:creationId xmlns:a16="http://schemas.microsoft.com/office/drawing/2014/main" id="{20E6E2BD-609D-4E0D-A8A7-0488976C0A01}"/>
              </a:ext>
            </a:extLst>
          </p:cNvPr>
          <p:cNvPicPr>
            <a:picLocks noChangeAspect="1"/>
          </p:cNvPicPr>
          <p:nvPr/>
        </p:nvPicPr>
        <p:blipFill>
          <a:blip r:embed="rId3"/>
          <a:stretch>
            <a:fillRect/>
          </a:stretch>
        </p:blipFill>
        <p:spPr>
          <a:xfrm>
            <a:off x="3123088" y="2506061"/>
            <a:ext cx="3058954" cy="1533696"/>
          </a:xfrm>
          <a:prstGeom prst="rect">
            <a:avLst/>
          </a:prstGeom>
        </p:spPr>
      </p:pic>
      <p:pic>
        <p:nvPicPr>
          <p:cNvPr id="4" name="Imagen 3">
            <a:extLst>
              <a:ext uri="{FF2B5EF4-FFF2-40B4-BE49-F238E27FC236}">
                <a16:creationId xmlns:a16="http://schemas.microsoft.com/office/drawing/2014/main" id="{976EA922-DF38-448A-3656-486593381861}"/>
              </a:ext>
            </a:extLst>
          </p:cNvPr>
          <p:cNvPicPr>
            <a:picLocks noChangeAspect="1"/>
          </p:cNvPicPr>
          <p:nvPr/>
        </p:nvPicPr>
        <p:blipFill>
          <a:blip r:embed="rId4"/>
          <a:stretch>
            <a:fillRect/>
          </a:stretch>
        </p:blipFill>
        <p:spPr>
          <a:xfrm>
            <a:off x="2815359" y="1823437"/>
            <a:ext cx="1752517" cy="818564"/>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1.png"/>
          <p:cNvPicPr/>
          <p:nvPr/>
        </p:nvPicPr>
        <p:blipFill>
          <a:blip r:embed="rId3"/>
          <a:stretch>
            <a:fillRect/>
          </a:stretch>
        </p:blipFill>
        <p:spPr>
          <a:xfrm>
            <a:off x="7848600" y="6311900"/>
            <a:ext cx="1117600" cy="393700"/>
          </a:xfrm>
          <a:prstGeom prst="rect">
            <a:avLst/>
          </a:prstGeom>
          <a:ln w="12700">
            <a:miter lim="400000"/>
          </a:ln>
        </p:spPr>
      </p:pic>
      <p:sp>
        <p:nvSpPr>
          <p:cNvPr id="56" name="Shape 56"/>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7" name="Shape 57"/>
          <p:cNvSpPr/>
          <p:nvPr/>
        </p:nvSpPr>
        <p:spPr>
          <a:xfrm>
            <a:off x="76200" y="5867400"/>
            <a:ext cx="1384300" cy="9144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8" name="Shape 5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NOT list</a:t>
            </a:r>
          </a:p>
        </p:txBody>
      </p:sp>
      <p:graphicFrame>
        <p:nvGraphicFramePr>
          <p:cNvPr id="59" name="Table 59"/>
          <p:cNvGraphicFramePr/>
          <p:nvPr>
            <p:extLst>
              <p:ext uri="{D42A27DB-BD31-4B8C-83A1-F6EECF244321}">
                <p14:modId xmlns:p14="http://schemas.microsoft.com/office/powerpoint/2010/main" val="3376565359"/>
              </p:ext>
            </p:extLst>
          </p:nvPr>
        </p:nvGraphicFramePr>
        <p:xfrm>
          <a:off x="381000" y="1396999"/>
          <a:ext cx="8458200" cy="3415936"/>
        </p:xfrm>
        <a:graphic>
          <a:graphicData uri="http://schemas.openxmlformats.org/drawingml/2006/table">
            <a:tbl>
              <a:tblPr firstRow="1" bandRow="1">
                <a:tableStyleId>{8F44A2F1-9E1F-4B54-A3A2-5F16C0AD49E2}</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400594">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IN</a:t>
                      </a:r>
                    </a:p>
                  </a:txBody>
                  <a:tcPr marL="38100" marR="38100" marT="38100" marB="38100" horzOverflow="overflow"/>
                </a:tc>
                <a:tc>
                  <a:txBody>
                    <a:bodyPr/>
                    <a:lstStyle/>
                    <a:p>
                      <a:pPr lvl="0" algn="ctr">
                        <a:tabLst>
                          <a:tab pos="914400" algn="l"/>
                        </a:tabLst>
                        <a:defRPr sz="1800" b="0">
                          <a:solidFill>
                            <a:srgbClr val="000000"/>
                          </a:solidFill>
                          <a:uFillTx/>
                        </a:defRPr>
                      </a:pPr>
                      <a:r>
                        <a:rPr sz="2800">
                          <a:solidFill>
                            <a:srgbClr val="FFFFFF"/>
                          </a:solidFill>
                          <a:uFill>
                            <a:solidFill>
                              <a:srgbClr val="FFFFFF"/>
                            </a:solidFill>
                          </a:uFill>
                        </a:rPr>
                        <a:t>OUT</a:t>
                      </a:r>
                    </a:p>
                  </a:txBody>
                  <a:tcPr marL="38100" marR="38100" marT="38100" marB="38100" horzOverflow="overflow"/>
                </a:tc>
                <a:extLst>
                  <a:ext uri="{0D108BD9-81ED-4DB2-BD59-A6C34878D82A}">
                    <a16:rowId xmlns:a16="http://schemas.microsoft.com/office/drawing/2014/main" val="10000"/>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Registro de mascotas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Venta de productos veterinarios</a:t>
                      </a:r>
                      <a:endParaRPr lang="es-CR"/>
                    </a:p>
                  </a:txBody>
                  <a:tcPr marL="38100" marR="38100" marT="38100" marB="38100" horzOverflow="overflow"/>
                </a:tc>
                <a:extLst>
                  <a:ext uri="{0D108BD9-81ED-4DB2-BD59-A6C34878D82A}">
                    <a16:rowId xmlns:a16="http://schemas.microsoft.com/office/drawing/2014/main" val="10001"/>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Gestión de expedientes clínicos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Sistema de nómina para empleados</a:t>
                      </a:r>
                      <a:endParaRPr lang="es-CR"/>
                    </a:p>
                  </a:txBody>
                  <a:tcPr marL="38100" marR="38100" marT="38100" marB="38100" horzOverflow="overflow"/>
                </a:tc>
                <a:extLst>
                  <a:ext uri="{0D108BD9-81ED-4DB2-BD59-A6C34878D82A}">
                    <a16:rowId xmlns:a16="http://schemas.microsoft.com/office/drawing/2014/main" val="10002"/>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Historial médico y consultas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a:t>Telemedicina en línea </a:t>
                      </a:r>
                    </a:p>
                  </a:txBody>
                  <a:tcPr marL="38100" marR="38100" marT="38100" marB="38100" horzOverflow="overflow"/>
                </a:tc>
                <a:extLst>
                  <a:ext uri="{0D108BD9-81ED-4DB2-BD59-A6C34878D82A}">
                    <a16:rowId xmlns:a16="http://schemas.microsoft.com/office/drawing/2014/main" val="10003"/>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Control de vacunas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a:t>Adopción de Mascotas</a:t>
                      </a:r>
                    </a:p>
                  </a:txBody>
                  <a:tcPr marL="38100" marR="38100" marT="38100" marB="38100" horzOverflow="overflow"/>
                </a:tc>
                <a:extLst>
                  <a:ext uri="{0D108BD9-81ED-4DB2-BD59-A6C34878D82A}">
                    <a16:rowId xmlns:a16="http://schemas.microsoft.com/office/drawing/2014/main" val="10004"/>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Registro de tratamientos</a:t>
                      </a: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Reserva de hospedaje o guardería para mascotas</a:t>
                      </a:r>
                      <a:endParaRPr lang="es-CR"/>
                    </a:p>
                  </a:txBody>
                  <a:tcPr marL="38100" marR="38100" marT="38100" marB="38100" horzOverflow="overflow"/>
                </a:tc>
                <a:extLst>
                  <a:ext uri="{0D108BD9-81ED-4DB2-BD59-A6C34878D82A}">
                    <a16:rowId xmlns:a16="http://schemas.microsoft.com/office/drawing/2014/main" val="10005"/>
                  </a:ext>
                </a:extLst>
              </a:tr>
              <a:tr h="400594">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Gestión de propietarios de mascotas</a:t>
                      </a:r>
                      <a:endParaRPr/>
                    </a:p>
                  </a:txBody>
                  <a:tcPr marL="38100" marR="38100" marT="38100" marB="38100" horzOverflow="overflow"/>
                </a:tc>
                <a:tc>
                  <a:txBody>
                    <a:bodyPr/>
                    <a:lstStyle/>
                    <a:p>
                      <a:pPr lvl="0" algn="l">
                        <a:tabLst>
                          <a:tab pos="914400" algn="l"/>
                        </a:tabLst>
                        <a:defRPr sz="1800">
                          <a:uFill>
                            <a:solidFill>
                              <a:srgbClr val="000000"/>
                            </a:solidFill>
                          </a:uFill>
                        </a:defRPr>
                      </a:pPr>
                      <a:r>
                        <a:rPr lang="pt-BR" sz="1800" b="0" i="0">
                          <a:solidFill>
                            <a:srgbClr val="000000"/>
                          </a:solidFill>
                          <a:uFill>
                            <a:solidFill>
                              <a:srgbClr val="9A9A9A"/>
                            </a:solidFill>
                          </a:uFill>
                          <a:latin typeface="+mn-lt"/>
                          <a:ea typeface="+mn-ea"/>
                          <a:cs typeface="+mn-cs"/>
                        </a:rPr>
                        <a:t>Inteligencia</a:t>
                      </a:r>
                      <a:r>
                        <a:rPr lang="pt-BR" sz="1800" b="0" i="0">
                          <a:solidFill>
                            <a:srgbClr val="000000"/>
                          </a:solidFill>
                          <a:uFill>
                            <a:solidFill>
                              <a:srgbClr val="9A9A9A"/>
                            </a:solidFill>
                          </a:uFill>
                          <a:latin typeface="+mn-lt"/>
                          <a:ea typeface="+mn-ea"/>
                          <a:cs typeface="+mn-cs"/>
                          <a:sym typeface="Calibri"/>
                        </a:rPr>
                        <a:t> artificial para diagnóstico médico</a:t>
                      </a:r>
                      <a:endParaRPr lang="pt-BR"/>
                    </a:p>
                  </a:txBody>
                  <a:tcPr marL="38100" marR="38100" marT="38100" marB="38100" horzOverflow="overflow"/>
                </a:tc>
                <a:extLst>
                  <a:ext uri="{0D108BD9-81ED-4DB2-BD59-A6C34878D82A}">
                    <a16:rowId xmlns:a16="http://schemas.microsoft.com/office/drawing/2014/main" val="10006"/>
                  </a:ext>
                </a:extLst>
              </a:tr>
            </a:tbl>
          </a:graphicData>
        </a:graphic>
      </p:graphicFrame>
      <p:graphicFrame>
        <p:nvGraphicFramePr>
          <p:cNvPr id="60" name="Table 60"/>
          <p:cNvGraphicFramePr/>
          <p:nvPr>
            <p:extLst>
              <p:ext uri="{D42A27DB-BD31-4B8C-83A1-F6EECF244321}">
                <p14:modId xmlns:p14="http://schemas.microsoft.com/office/powerpoint/2010/main" val="207001142"/>
              </p:ext>
            </p:extLst>
          </p:nvPr>
        </p:nvGraphicFramePr>
        <p:xfrm>
          <a:off x="427220" y="4812935"/>
          <a:ext cx="8035352" cy="1969912"/>
        </p:xfrm>
        <a:graphic>
          <a:graphicData uri="http://schemas.openxmlformats.org/drawingml/2006/table">
            <a:tbl>
              <a:tblPr firstRow="1" bandRow="1">
                <a:tableStyleId>{8F44A2F1-9E1F-4B54-A3A2-5F16C0AD49E2}</a:tableStyleId>
              </a:tblPr>
              <a:tblGrid>
                <a:gridCol w="8035352">
                  <a:extLst>
                    <a:ext uri="{9D8B030D-6E8A-4147-A177-3AD203B41FA5}">
                      <a16:colId xmlns:a16="http://schemas.microsoft.com/office/drawing/2014/main" val="20000"/>
                    </a:ext>
                  </a:extLst>
                </a:gridCol>
              </a:tblGrid>
              <a:tr h="480510">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UNRESOLVED</a:t>
                      </a:r>
                    </a:p>
                  </a:txBody>
                  <a:tcPr marL="38100" marR="38100" marT="38100" marB="38100" horzOverflow="overflow"/>
                </a:tc>
                <a:extLst>
                  <a:ext uri="{0D108BD9-81ED-4DB2-BD59-A6C34878D82A}">
                    <a16:rowId xmlns:a16="http://schemas.microsoft.com/office/drawing/2014/main" val="10000"/>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Los dueños de las mascotas tendrán acceso a un portal para consultar información</a:t>
                      </a:r>
                      <a:endParaRPr lang="es-MX"/>
                    </a:p>
                  </a:txBody>
                  <a:tcPr marL="38100" marR="38100" marT="38100" marB="38100" horzOverflow="overflow"/>
                </a:tc>
                <a:extLst>
                  <a:ext uri="{0D108BD9-81ED-4DB2-BD59-A6C34878D82A}">
                    <a16:rowId xmlns:a16="http://schemas.microsoft.com/office/drawing/2014/main" val="10001"/>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Se enviarán recordatorios automáticos de citas y vacunaciones</a:t>
                      </a:r>
                      <a:endParaRPr lang="es-MX"/>
                    </a:p>
                  </a:txBody>
                  <a:tcPr marL="38100" marR="38100" marT="38100" marB="38100" horzOverflow="overflow"/>
                </a:tc>
                <a:extLst>
                  <a:ext uri="{0D108BD9-81ED-4DB2-BD59-A6C34878D82A}">
                    <a16:rowId xmlns:a16="http://schemas.microsoft.com/office/drawing/2014/main" val="10002"/>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El sistema permitirá la gestión de múltiples veterinarios por clínica</a:t>
                      </a:r>
                      <a:endParaRPr lang="es-MX"/>
                    </a:p>
                  </a:txBody>
                  <a:tcPr marL="38100" marR="38100" marT="38100" marB="38100" horzOverflow="overflow"/>
                </a:tc>
                <a:extLst>
                  <a:ext uri="{0D108BD9-81ED-4DB2-BD59-A6C34878D82A}">
                    <a16:rowId xmlns:a16="http://schemas.microsoft.com/office/drawing/2014/main" val="10003"/>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Se generarán reportes estadísticos avanzados</a:t>
                      </a:r>
                      <a:endParaRPr lang="es-MX"/>
                    </a:p>
                  </a:txBody>
                  <a:tcPr marL="38100" marR="38100" marT="38100" marB="38100"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1.png"/>
          <p:cNvPicPr/>
          <p:nvPr/>
        </p:nvPicPr>
        <p:blipFill>
          <a:blip r:embed="rId3"/>
          <a:stretch>
            <a:fillRect/>
          </a:stretch>
        </p:blipFill>
        <p:spPr>
          <a:xfrm>
            <a:off x="7848600" y="6311900"/>
            <a:ext cx="1117600" cy="393700"/>
          </a:xfrm>
          <a:prstGeom prst="rect">
            <a:avLst/>
          </a:prstGeom>
          <a:ln w="12700">
            <a:miter lim="400000"/>
          </a:ln>
        </p:spPr>
      </p:pic>
      <p:sp>
        <p:nvSpPr>
          <p:cNvPr id="65" name="Shape 65"/>
          <p:cNvSpPr>
            <a:spLocks noGrp="1"/>
          </p:cNvSpPr>
          <p:nvPr>
            <p:ph type="title"/>
          </p:nvPr>
        </p:nvSpPr>
        <p:spPr>
          <a:prstGeom prst="rect">
            <a:avLst/>
          </a:prstGeom>
        </p:spPr>
        <p:txBody>
          <a:bodyPr/>
          <a:lstStyle/>
          <a:p>
            <a:pPr>
              <a:defRPr sz="1800">
                <a:solidFill>
                  <a:srgbClr val="000000"/>
                </a:solidFill>
                <a:uFillTx/>
              </a:defRPr>
            </a:pPr>
            <a:r>
              <a:rPr lang="en-US" sz="2800">
                <a:ea typeface="+mn-lt"/>
                <a:cs typeface="+mn-lt"/>
              </a:rPr>
              <a:t>Tu comunidad del </a:t>
            </a:r>
            <a:r>
              <a:rPr lang="en-US" sz="2800" err="1">
                <a:ea typeface="+mn-lt"/>
                <a:cs typeface="+mn-lt"/>
              </a:rPr>
              <a:t>proyecto</a:t>
            </a:r>
            <a:endParaRPr lang="es-ES" sz="2800" err="1"/>
          </a:p>
        </p:txBody>
      </p:sp>
      <p:sp>
        <p:nvSpPr>
          <p:cNvPr id="66" name="Shape 66"/>
          <p:cNvSpPr/>
          <p:nvPr/>
        </p:nvSpPr>
        <p:spPr>
          <a:xfrm>
            <a:off x="2743200" y="2819399"/>
            <a:ext cx="3352800" cy="10668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25400">
            <a:solidFill>
              <a:srgbClr val="48729B"/>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67" name="Shape 67"/>
          <p:cNvSpPr/>
          <p:nvPr/>
        </p:nvSpPr>
        <p:spPr>
          <a:xfrm>
            <a:off x="3407516" y="3174552"/>
            <a:ext cx="2019784" cy="353943"/>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a:defRPr sz="1800">
                <a:uFillTx/>
              </a:defRPr>
            </a:pPr>
            <a:r>
              <a:rPr lang="en-US">
                <a:ea typeface="+mn-lt"/>
                <a:cs typeface="+mn-lt"/>
              </a:rPr>
              <a:t>Equipo de </a:t>
            </a:r>
            <a:r>
              <a:rPr lang="en-US" err="1">
                <a:ea typeface="+mn-lt"/>
                <a:cs typeface="+mn-lt"/>
              </a:rPr>
              <a:t>desarrollo</a:t>
            </a:r>
            <a:endParaRPr sz="2800" err="1">
              <a:uFill>
                <a:solidFill/>
              </a:uFill>
            </a:endParaRPr>
          </a:p>
        </p:txBody>
      </p:sp>
      <p:sp>
        <p:nvSpPr>
          <p:cNvPr id="68" name="Shape 68"/>
          <p:cNvSpPr/>
          <p:nvPr/>
        </p:nvSpPr>
        <p:spPr>
          <a:xfrm>
            <a:off x="6137275" y="3911600"/>
            <a:ext cx="2027799" cy="353943"/>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a:defRPr sz="1800">
                <a:uFillTx/>
              </a:defRPr>
            </a:pPr>
            <a:r>
              <a:rPr lang="en-US" err="1">
                <a:ea typeface="+mn-lt"/>
                <a:cs typeface="+mn-lt"/>
              </a:rPr>
              <a:t>Dueños</a:t>
            </a:r>
            <a:r>
              <a:rPr lang="en-US">
                <a:ea typeface="+mn-lt"/>
                <a:cs typeface="+mn-lt"/>
              </a:rPr>
              <a:t> de </a:t>
            </a:r>
            <a:r>
              <a:rPr lang="en-US" err="1">
                <a:ea typeface="+mn-lt"/>
                <a:cs typeface="+mn-lt"/>
              </a:rPr>
              <a:t>Mascotas</a:t>
            </a:r>
            <a:endParaRPr sz="2800" err="1">
              <a:uFill>
                <a:solidFill/>
              </a:uFill>
            </a:endParaRPr>
          </a:p>
        </p:txBody>
      </p:sp>
      <p:sp>
        <p:nvSpPr>
          <p:cNvPr id="69" name="Shape 69"/>
          <p:cNvSpPr/>
          <p:nvPr/>
        </p:nvSpPr>
        <p:spPr>
          <a:xfrm>
            <a:off x="858340" y="3296740"/>
            <a:ext cx="1882878" cy="630942"/>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2800"/>
            </a:lvl1pPr>
          </a:lstStyle>
          <a:p>
            <a:pPr>
              <a:defRPr sz="1800">
                <a:uFillTx/>
              </a:defRPr>
            </a:pPr>
            <a:r>
              <a:rPr lang="en-US" err="1">
                <a:ea typeface="+mn-lt"/>
                <a:cs typeface="+mn-lt"/>
              </a:rPr>
              <a:t>Recepcionistas</a:t>
            </a:r>
            <a:r>
              <a:rPr lang="en-US">
                <a:ea typeface="+mn-lt"/>
                <a:cs typeface="+mn-lt"/>
              </a:rPr>
              <a:t> y </a:t>
            </a:r>
            <a:r>
              <a:rPr lang="en-US" err="1">
                <a:ea typeface="+mn-lt"/>
                <a:cs typeface="+mn-lt"/>
              </a:rPr>
              <a:t>Administradores</a:t>
            </a:r>
            <a:endParaRPr sz="2800" err="1">
              <a:uFill>
                <a:solidFill/>
              </a:uFill>
            </a:endParaRPr>
          </a:p>
        </p:txBody>
      </p:sp>
      <p:sp>
        <p:nvSpPr>
          <p:cNvPr id="70" name="Shape 70"/>
          <p:cNvSpPr/>
          <p:nvPr/>
        </p:nvSpPr>
        <p:spPr>
          <a:xfrm>
            <a:off x="3200400" y="1828800"/>
            <a:ext cx="2075889" cy="353943"/>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2800"/>
            </a:lvl1pPr>
          </a:lstStyle>
          <a:p>
            <a:pPr>
              <a:defRPr sz="1800">
                <a:uFillTx/>
              </a:defRPr>
            </a:pPr>
            <a:r>
              <a:rPr lang="en-US" err="1">
                <a:ea typeface="+mn-lt"/>
                <a:cs typeface="+mn-lt"/>
              </a:rPr>
              <a:t>Médicos</a:t>
            </a:r>
            <a:r>
              <a:rPr lang="en-US">
                <a:ea typeface="+mn-lt"/>
                <a:cs typeface="+mn-lt"/>
              </a:rPr>
              <a:t> </a:t>
            </a:r>
            <a:r>
              <a:rPr lang="en-US" err="1">
                <a:ea typeface="+mn-lt"/>
                <a:cs typeface="+mn-lt"/>
              </a:rPr>
              <a:t>Veterinarios</a:t>
            </a:r>
            <a:endParaRPr sz="2800" err="1">
              <a:uFill>
                <a:solidFill/>
              </a:uFill>
            </a:endParaRPr>
          </a:p>
        </p:txBody>
      </p:sp>
      <p:sp>
        <p:nvSpPr>
          <p:cNvPr id="71" name="Shape 71"/>
          <p:cNvSpPr/>
          <p:nvPr/>
        </p:nvSpPr>
        <p:spPr>
          <a:xfrm>
            <a:off x="3276600" y="4352925"/>
            <a:ext cx="2633489" cy="907941"/>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2800"/>
            </a:lvl1pPr>
          </a:lstStyle>
          <a:p>
            <a:pPr>
              <a:defRPr sz="1800">
                <a:uFillTx/>
              </a:defRPr>
            </a:pPr>
            <a:r>
              <a:rPr lang="en-US" err="1">
                <a:ea typeface="+mn-lt"/>
                <a:cs typeface="+mn-lt"/>
              </a:rPr>
              <a:t>Proveedores</a:t>
            </a:r>
            <a:r>
              <a:rPr lang="en-US">
                <a:ea typeface="+mn-lt"/>
                <a:cs typeface="+mn-lt"/>
              </a:rPr>
              <a:t>, </a:t>
            </a:r>
            <a:r>
              <a:rPr lang="en-US" err="1">
                <a:ea typeface="+mn-lt"/>
                <a:cs typeface="+mn-lt"/>
              </a:rPr>
              <a:t>laboratorios</a:t>
            </a:r>
            <a:r>
              <a:rPr lang="en-US">
                <a:ea typeface="+mn-lt"/>
                <a:cs typeface="+mn-lt"/>
              </a:rPr>
              <a:t>, </a:t>
            </a:r>
            <a:r>
              <a:rPr lang="en-US" err="1">
                <a:ea typeface="+mn-lt"/>
                <a:cs typeface="+mn-lt"/>
              </a:rPr>
              <a:t>aseguradoras</a:t>
            </a:r>
            <a:r>
              <a:rPr lang="en-US">
                <a:ea typeface="+mn-lt"/>
                <a:cs typeface="+mn-lt"/>
              </a:rPr>
              <a:t>, </a:t>
            </a:r>
            <a:r>
              <a:rPr lang="en-US" err="1">
                <a:ea typeface="+mn-lt"/>
                <a:cs typeface="+mn-lt"/>
              </a:rPr>
              <a:t>entes</a:t>
            </a:r>
            <a:r>
              <a:rPr lang="en-US">
                <a:ea typeface="+mn-lt"/>
                <a:cs typeface="+mn-lt"/>
              </a:rPr>
              <a:t> </a:t>
            </a:r>
            <a:r>
              <a:rPr lang="en-US" err="1">
                <a:ea typeface="+mn-lt"/>
                <a:cs typeface="+mn-lt"/>
              </a:rPr>
              <a:t>regulatorios</a:t>
            </a:r>
            <a:endParaRPr sz="2800" err="1">
              <a:uFill>
                <a:solidFill/>
              </a:uFill>
            </a:endParaRPr>
          </a:p>
        </p:txBody>
      </p:sp>
      <p:sp>
        <p:nvSpPr>
          <p:cNvPr id="72" name="Shape 72"/>
          <p:cNvSpPr/>
          <p:nvPr/>
        </p:nvSpPr>
        <p:spPr>
          <a:xfrm>
            <a:off x="1911088" y="5567859"/>
            <a:ext cx="5971186" cy="50783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lvl1pPr>
              <a:defRPr sz="3200" b="1"/>
            </a:lvl1pPr>
          </a:lstStyle>
          <a:p>
            <a:pPr algn="r">
              <a:defRPr sz="1800" b="0">
                <a:uFillTx/>
              </a:defRPr>
            </a:pPr>
            <a:r>
              <a:rPr lang="en-US" sz="2800" b="0">
                <a:ea typeface="+mn-lt"/>
                <a:cs typeface="+mn-lt"/>
              </a:rPr>
              <a:t>¡</a:t>
            </a:r>
            <a:r>
              <a:rPr lang="en-US" sz="2800" b="0" err="1">
                <a:ea typeface="+mn-lt"/>
                <a:cs typeface="+mn-lt"/>
              </a:rPr>
              <a:t>siempre</a:t>
            </a:r>
            <a:r>
              <a:rPr lang="en-US" sz="2800" b="0">
                <a:ea typeface="+mn-lt"/>
                <a:cs typeface="+mn-lt"/>
              </a:rPr>
              <a:t> es </a:t>
            </a:r>
            <a:r>
              <a:rPr lang="en-US" sz="2800" b="0" err="1">
                <a:ea typeface="+mn-lt"/>
                <a:cs typeface="+mn-lt"/>
              </a:rPr>
              <a:t>más</a:t>
            </a:r>
            <a:r>
              <a:rPr lang="en-US" sz="2800" b="0">
                <a:ea typeface="+mn-lt"/>
                <a:cs typeface="+mn-lt"/>
              </a:rPr>
              <a:t> grande de lo </a:t>
            </a:r>
            <a:r>
              <a:rPr lang="en-US" sz="2800" b="0" err="1">
                <a:ea typeface="+mn-lt"/>
                <a:cs typeface="+mn-lt"/>
              </a:rPr>
              <a:t>que</a:t>
            </a:r>
            <a:r>
              <a:rPr lang="en-US" sz="2800" b="0">
                <a:ea typeface="+mn-lt"/>
                <a:cs typeface="+mn-lt"/>
              </a:rPr>
              <a:t> </a:t>
            </a:r>
            <a:r>
              <a:rPr lang="en-US" sz="2800" b="0" err="1">
                <a:ea typeface="+mn-lt"/>
                <a:cs typeface="+mn-lt"/>
              </a:rPr>
              <a:t>crees</a:t>
            </a:r>
            <a:r>
              <a:rPr lang="en-US" sz="2800" b="0">
                <a:uFill>
                  <a:solidFill/>
                </a:uFill>
                <a:ea typeface="+mn-lt"/>
                <a:cs typeface="+mn-lt"/>
              </a:rPr>
              <a:t>!</a:t>
            </a:r>
            <a:endParaRPr lang="en-US" sz="2800" b="0">
              <a:solidFill>
                <a:srgbClr val="000000"/>
              </a:solidFill>
              <a:latin typeface="Calibri"/>
              <a:ea typeface="Calibri"/>
              <a:cs typeface="Calibri"/>
            </a:endParaRPr>
          </a:p>
        </p:txBody>
      </p:sp>
      <p:pic>
        <p:nvPicPr>
          <p:cNvPr id="73" name="image3.png"/>
          <p:cNvPicPr/>
          <p:nvPr/>
        </p:nvPicPr>
        <p:blipFill>
          <a:blip r:embed="rId4"/>
          <a:stretch>
            <a:fillRect/>
          </a:stretch>
        </p:blipFill>
        <p:spPr>
          <a:xfrm>
            <a:off x="6184900" y="1943100"/>
            <a:ext cx="800100" cy="927100"/>
          </a:xfrm>
          <a:prstGeom prst="rect">
            <a:avLst/>
          </a:prstGeom>
          <a:ln w="12700">
            <a:miter lim="400000"/>
          </a:ln>
        </p:spPr>
      </p:pic>
      <p:pic>
        <p:nvPicPr>
          <p:cNvPr id="74" name="image4.png"/>
          <p:cNvPicPr/>
          <p:nvPr/>
        </p:nvPicPr>
        <p:blipFill>
          <a:blip r:embed="rId5"/>
          <a:stretch>
            <a:fillRect/>
          </a:stretch>
        </p:blipFill>
        <p:spPr>
          <a:xfrm>
            <a:off x="1511300" y="1943100"/>
            <a:ext cx="800100" cy="927100"/>
          </a:xfrm>
          <a:prstGeom prst="rect">
            <a:avLst/>
          </a:prstGeom>
          <a:ln w="12700">
            <a:miter lim="400000"/>
          </a:ln>
        </p:spPr>
      </p:pic>
      <p:pic>
        <p:nvPicPr>
          <p:cNvPr id="75" name="image5.png"/>
          <p:cNvPicPr/>
          <p:nvPr/>
        </p:nvPicPr>
        <p:blipFill>
          <a:blip r:embed="rId6"/>
          <a:stretch>
            <a:fillRect/>
          </a:stretch>
        </p:blipFill>
        <p:spPr>
          <a:xfrm>
            <a:off x="1206500" y="3924300"/>
            <a:ext cx="800100" cy="92710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image1.png"/>
          <p:cNvPicPr/>
          <p:nvPr/>
        </p:nvPicPr>
        <p:blipFill>
          <a:blip r:embed="rId3"/>
          <a:stretch>
            <a:fillRect/>
          </a:stretch>
        </p:blipFill>
        <p:spPr>
          <a:xfrm>
            <a:off x="7848600" y="6311900"/>
            <a:ext cx="1117600" cy="393700"/>
          </a:xfrm>
          <a:prstGeom prst="rect">
            <a:avLst/>
          </a:prstGeom>
          <a:ln w="12700">
            <a:miter lim="400000"/>
          </a:ln>
        </p:spPr>
      </p:pic>
      <p:sp>
        <p:nvSpPr>
          <p:cNvPr id="80" name="Shape 80"/>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1" name="Shape 8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Technical solution</a:t>
            </a:r>
          </a:p>
        </p:txBody>
      </p:sp>
      <p:grpSp>
        <p:nvGrpSpPr>
          <p:cNvPr id="84" name="Group 84"/>
          <p:cNvGrpSpPr/>
          <p:nvPr/>
        </p:nvGrpSpPr>
        <p:grpSpPr>
          <a:xfrm>
            <a:off x="2286927" y="1828703"/>
            <a:ext cx="1754918" cy="914845"/>
            <a:chOff x="0" y="-1"/>
            <a:chExt cx="1754917" cy="914843"/>
          </a:xfrm>
        </p:grpSpPr>
        <p:sp>
          <p:nvSpPr>
            <p:cNvPr id="82" name="Shape 82"/>
            <p:cNvSpPr/>
            <p:nvPr/>
          </p:nvSpPr>
          <p:spPr>
            <a:xfrm>
              <a:off x="0" y="-1"/>
              <a:ext cx="1754917" cy="914843"/>
            </a:xfrm>
            <a:custGeom>
              <a:avLst/>
              <a:gdLst/>
              <a:ahLst/>
              <a:cxnLst>
                <a:cxn ang="0">
                  <a:pos x="wd2" y="hd2"/>
                </a:cxn>
                <a:cxn ang="5400000">
                  <a:pos x="wd2" y="hd2"/>
                </a:cxn>
                <a:cxn ang="10800000">
                  <a:pos x="wd2" y="hd2"/>
                </a:cxn>
                <a:cxn ang="16200000">
                  <a:pos x="wd2" y="hd2"/>
                </a:cxn>
              </a:cxnLst>
              <a:rect l="0" t="0" r="r" b="b"/>
              <a:pathLst>
                <a:path w="20879" h="20683" extrusionOk="0">
                  <a:moveTo>
                    <a:pt x="1901" y="6809"/>
                  </a:moveTo>
                  <a:cubicBezTo>
                    <a:pt x="1658" y="4403"/>
                    <a:pt x="2907" y="2186"/>
                    <a:pt x="4691" y="1859"/>
                  </a:cubicBezTo>
                  <a:cubicBezTo>
                    <a:pt x="5414" y="1726"/>
                    <a:pt x="6149" y="1925"/>
                    <a:pt x="6778" y="2422"/>
                  </a:cubicBezTo>
                  <a:cubicBezTo>
                    <a:pt x="7445" y="726"/>
                    <a:pt x="9003" y="81"/>
                    <a:pt x="10259" y="982"/>
                  </a:cubicBezTo>
                  <a:cubicBezTo>
                    <a:pt x="10478" y="1140"/>
                    <a:pt x="10680" y="1340"/>
                    <a:pt x="10857" y="1575"/>
                  </a:cubicBezTo>
                  <a:cubicBezTo>
                    <a:pt x="11377" y="169"/>
                    <a:pt x="12642" y="-402"/>
                    <a:pt x="13683" y="299"/>
                  </a:cubicBezTo>
                  <a:cubicBezTo>
                    <a:pt x="13971" y="493"/>
                    <a:pt x="14222" y="774"/>
                    <a:pt x="14418" y="1120"/>
                  </a:cubicBezTo>
                  <a:cubicBezTo>
                    <a:pt x="15255" y="-210"/>
                    <a:pt x="16734" y="-374"/>
                    <a:pt x="17722" y="753"/>
                  </a:cubicBezTo>
                  <a:cubicBezTo>
                    <a:pt x="18137" y="1227"/>
                    <a:pt x="18417" y="1880"/>
                    <a:pt x="18513" y="2601"/>
                  </a:cubicBezTo>
                  <a:cubicBezTo>
                    <a:pt x="19885" y="3106"/>
                    <a:pt x="20694" y="5019"/>
                    <a:pt x="20321" y="6874"/>
                  </a:cubicBezTo>
                  <a:cubicBezTo>
                    <a:pt x="20289" y="7030"/>
                    <a:pt x="20250" y="7182"/>
                    <a:pt x="20203" y="7331"/>
                  </a:cubicBezTo>
                  <a:cubicBezTo>
                    <a:pt x="21303" y="9264"/>
                    <a:pt x="21034" y="12033"/>
                    <a:pt x="19601" y="13518"/>
                  </a:cubicBezTo>
                  <a:cubicBezTo>
                    <a:pt x="19155" y="13980"/>
                    <a:pt x="18629" y="14279"/>
                    <a:pt x="18072" y="14386"/>
                  </a:cubicBezTo>
                  <a:cubicBezTo>
                    <a:pt x="18060" y="16465"/>
                    <a:pt x="16800" y="18137"/>
                    <a:pt x="15258" y="18121"/>
                  </a:cubicBezTo>
                  <a:cubicBezTo>
                    <a:pt x="14743" y="18115"/>
                    <a:pt x="14238" y="17917"/>
                    <a:pt x="13801" y="17550"/>
                  </a:cubicBezTo>
                  <a:cubicBezTo>
                    <a:pt x="13280" y="19881"/>
                    <a:pt x="11460" y="21198"/>
                    <a:pt x="9738" y="20492"/>
                  </a:cubicBezTo>
                  <a:cubicBezTo>
                    <a:pt x="9016" y="20196"/>
                    <a:pt x="8392" y="19571"/>
                    <a:pt x="7973" y="18722"/>
                  </a:cubicBezTo>
                  <a:cubicBezTo>
                    <a:pt x="6209" y="20158"/>
                    <a:pt x="3920" y="19386"/>
                    <a:pt x="2859" y="16998"/>
                  </a:cubicBezTo>
                  <a:cubicBezTo>
                    <a:pt x="2846" y="16968"/>
                    <a:pt x="2833" y="16937"/>
                    <a:pt x="2820" y="16907"/>
                  </a:cubicBezTo>
                  <a:cubicBezTo>
                    <a:pt x="1666" y="17089"/>
                    <a:pt x="620" y="15978"/>
                    <a:pt x="485" y="14424"/>
                  </a:cubicBezTo>
                  <a:cubicBezTo>
                    <a:pt x="412" y="13596"/>
                    <a:pt x="615" y="12767"/>
                    <a:pt x="1038" y="12159"/>
                  </a:cubicBezTo>
                  <a:cubicBezTo>
                    <a:pt x="39" y="11365"/>
                    <a:pt x="-297" y="9622"/>
                    <a:pt x="288" y="8266"/>
                  </a:cubicBezTo>
                  <a:cubicBezTo>
                    <a:pt x="626" y="7484"/>
                    <a:pt x="1218" y="6967"/>
                    <a:pt x="1883" y="6874"/>
                  </a:cubicBezTo>
                  <a:close/>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sp>
          <p:nvSpPr>
            <p:cNvPr id="83" name="Shape 83"/>
            <p:cNvSpPr/>
            <p:nvPr/>
          </p:nvSpPr>
          <p:spPr>
            <a:xfrm>
              <a:off x="89103" y="46586"/>
              <a:ext cx="1608097" cy="777867"/>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cubicBezTo>
                    <a:pt x="7657" y="21279"/>
                    <a:pt x="7535" y="20936"/>
                    <a:pt x="7438" y="20577"/>
                  </a:cubicBezTo>
                  <a:moveTo>
                    <a:pt x="14532" y="19050"/>
                  </a:moveTo>
                  <a:cubicBezTo>
                    <a:pt x="14510" y="19430"/>
                    <a:pt x="14462" y="19806"/>
                    <a:pt x="14386" y="20172"/>
                  </a:cubicBezTo>
                  <a:moveTo>
                    <a:pt x="17421" y="12116"/>
                  </a:moveTo>
                  <a:cubicBezTo>
                    <a:pt x="18513" y="12896"/>
                    <a:pt x="19202" y="14528"/>
                    <a:pt x="19193" y="16310"/>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cubicBezTo>
                    <a:pt x="1016" y="7632"/>
                    <a:pt x="974" y="7353"/>
                    <a:pt x="948" y="7071"/>
                  </a:cubicBez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sp>
        <p:nvSpPr>
          <p:cNvPr id="85" name="Shape 85"/>
          <p:cNvSpPr/>
          <p:nvPr/>
        </p:nvSpPr>
        <p:spPr>
          <a:xfrm>
            <a:off x="4572000" y="1831848"/>
            <a:ext cx="1612900" cy="2286001"/>
          </a:xfrm>
          <a:prstGeom prst="rect">
            <a:avLst/>
          </a:prstGeom>
          <a:solidFill>
            <a:srgbClr val="6095C9"/>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6" name="Shape 86"/>
          <p:cNvSpPr/>
          <p:nvPr/>
        </p:nvSpPr>
        <p:spPr>
          <a:xfrm>
            <a:off x="4800600" y="2060448"/>
            <a:ext cx="1155700" cy="457201"/>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grpSp>
        <p:nvGrpSpPr>
          <p:cNvPr id="90" name="Group 90"/>
          <p:cNvGrpSpPr/>
          <p:nvPr/>
        </p:nvGrpSpPr>
        <p:grpSpPr>
          <a:xfrm>
            <a:off x="7086600" y="1679448"/>
            <a:ext cx="914400" cy="1216153"/>
            <a:chOff x="0" y="0"/>
            <a:chExt cx="914400" cy="1216152"/>
          </a:xfrm>
        </p:grpSpPr>
        <p:sp>
          <p:nvSpPr>
            <p:cNvPr id="87" name="Shape 87"/>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88" name="Shape 88"/>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89" name="Shape 89"/>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grpSp>
        <p:nvGrpSpPr>
          <p:cNvPr id="94" name="Group 94"/>
          <p:cNvGrpSpPr/>
          <p:nvPr/>
        </p:nvGrpSpPr>
        <p:grpSpPr>
          <a:xfrm>
            <a:off x="7086600" y="3203447"/>
            <a:ext cx="914400" cy="1216153"/>
            <a:chOff x="0" y="0"/>
            <a:chExt cx="914400" cy="1216152"/>
          </a:xfrm>
        </p:grpSpPr>
        <p:sp>
          <p:nvSpPr>
            <p:cNvPr id="91" name="Shape 91"/>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92" name="Shape 92"/>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93" name="Shape 93"/>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pic>
        <p:nvPicPr>
          <p:cNvPr id="95" name="image6.png"/>
          <p:cNvPicPr/>
          <p:nvPr/>
        </p:nvPicPr>
        <p:blipFill>
          <a:blip r:embed="rId4"/>
          <a:stretch>
            <a:fillRect/>
          </a:stretch>
        </p:blipFill>
        <p:spPr>
          <a:xfrm>
            <a:off x="4942794" y="4808617"/>
            <a:ext cx="1174304" cy="825501"/>
          </a:xfrm>
          <a:prstGeom prst="rect">
            <a:avLst/>
          </a:prstGeom>
          <a:ln w="12700">
            <a:miter lim="400000"/>
          </a:ln>
        </p:spPr>
      </p:pic>
      <p:pic>
        <p:nvPicPr>
          <p:cNvPr id="96" name="image7.png"/>
          <p:cNvPicPr/>
          <p:nvPr/>
        </p:nvPicPr>
        <p:blipFill>
          <a:blip r:embed="rId5"/>
          <a:stretch>
            <a:fillRect/>
          </a:stretch>
        </p:blipFill>
        <p:spPr>
          <a:xfrm>
            <a:off x="4943168" y="5817839"/>
            <a:ext cx="863600" cy="688073"/>
          </a:xfrm>
          <a:prstGeom prst="rect">
            <a:avLst/>
          </a:prstGeom>
          <a:ln w="12700">
            <a:miter lim="400000"/>
          </a:ln>
        </p:spPr>
      </p:pic>
      <p:pic>
        <p:nvPicPr>
          <p:cNvPr id="97" name="image8.png"/>
          <p:cNvPicPr/>
          <p:nvPr/>
        </p:nvPicPr>
        <p:blipFill>
          <a:blip r:embed="rId6"/>
          <a:stretch>
            <a:fillRect/>
          </a:stretch>
        </p:blipFill>
        <p:spPr>
          <a:xfrm>
            <a:off x="990600" y="1831848"/>
            <a:ext cx="800100" cy="927101"/>
          </a:xfrm>
          <a:prstGeom prst="rect">
            <a:avLst/>
          </a:prstGeom>
          <a:ln w="12700">
            <a:miter lim="400000"/>
          </a:ln>
        </p:spPr>
      </p:pic>
      <p:sp>
        <p:nvSpPr>
          <p:cNvPr id="98" name="Shape 98"/>
          <p:cNvSpPr/>
          <p:nvPr/>
        </p:nvSpPr>
        <p:spPr>
          <a:xfrm>
            <a:off x="6284657" y="4811076"/>
            <a:ext cx="2569700" cy="630942"/>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3200"/>
            </a:lvl1pPr>
          </a:lstStyle>
          <a:p>
            <a:pPr>
              <a:defRPr sz="1800">
                <a:uFillTx/>
              </a:defRPr>
            </a:pPr>
            <a:r>
              <a:rPr lang="en-US" err="1">
                <a:ea typeface="+mn-lt"/>
                <a:cs typeface="+mn-lt"/>
              </a:rPr>
              <a:t>Pérdida</a:t>
            </a:r>
            <a:r>
              <a:rPr lang="en-US">
                <a:ea typeface="+mn-lt"/>
                <a:cs typeface="+mn-lt"/>
              </a:rPr>
              <a:t> de </a:t>
            </a:r>
            <a:r>
              <a:rPr lang="en-US" err="1">
                <a:ea typeface="+mn-lt"/>
                <a:cs typeface="+mn-lt"/>
              </a:rPr>
              <a:t>datos</a:t>
            </a:r>
            <a:r>
              <a:rPr lang="en-US">
                <a:ea typeface="+mn-lt"/>
                <a:cs typeface="+mn-lt"/>
              </a:rPr>
              <a:t> </a:t>
            </a:r>
            <a:r>
              <a:rPr lang="en-US" err="1">
                <a:ea typeface="+mn-lt"/>
                <a:cs typeface="+mn-lt"/>
              </a:rPr>
              <a:t>médicos</a:t>
            </a:r>
            <a:r>
              <a:rPr lang="en-US">
                <a:ea typeface="+mn-lt"/>
                <a:cs typeface="+mn-lt"/>
              </a:rPr>
              <a:t> </a:t>
            </a:r>
            <a:r>
              <a:rPr lang="en-US" err="1">
                <a:ea typeface="+mn-lt"/>
                <a:cs typeface="+mn-lt"/>
              </a:rPr>
              <a:t>por</a:t>
            </a:r>
            <a:r>
              <a:rPr lang="en-US">
                <a:ea typeface="+mn-lt"/>
                <a:cs typeface="+mn-lt"/>
              </a:rPr>
              <a:t> </a:t>
            </a:r>
            <a:r>
              <a:rPr lang="en-US" err="1">
                <a:ea typeface="+mn-lt"/>
                <a:cs typeface="+mn-lt"/>
              </a:rPr>
              <a:t>fallos</a:t>
            </a:r>
            <a:r>
              <a:rPr lang="en-US">
                <a:ea typeface="+mn-lt"/>
                <a:cs typeface="+mn-lt"/>
              </a:rPr>
              <a:t> </a:t>
            </a:r>
            <a:r>
              <a:rPr lang="en-US" err="1">
                <a:ea typeface="+mn-lt"/>
                <a:cs typeface="+mn-lt"/>
              </a:rPr>
              <a:t>en</a:t>
            </a:r>
            <a:r>
              <a:rPr lang="en-US">
                <a:ea typeface="+mn-lt"/>
                <a:cs typeface="+mn-lt"/>
              </a:rPr>
              <a:t> el </a:t>
            </a:r>
            <a:r>
              <a:rPr lang="en-US" err="1">
                <a:ea typeface="+mn-lt"/>
                <a:cs typeface="+mn-lt"/>
              </a:rPr>
              <a:t>servidor</a:t>
            </a:r>
            <a:endParaRPr sz="3200" err="1">
              <a:uFill>
                <a:solidFill/>
              </a:uFill>
            </a:endParaRPr>
          </a:p>
        </p:txBody>
      </p:sp>
      <p:sp>
        <p:nvSpPr>
          <p:cNvPr id="99" name="Shape 99"/>
          <p:cNvSpPr/>
          <p:nvPr/>
        </p:nvSpPr>
        <p:spPr>
          <a:xfrm>
            <a:off x="6284657" y="5628382"/>
            <a:ext cx="2680313" cy="907941"/>
          </a:xfrm>
          <a:prstGeom prst="rect">
            <a:avLst/>
          </a:prstGeom>
          <a:ln w="12700">
            <a:round/>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a:defRPr sz="3200"/>
            </a:lvl1pPr>
          </a:lstStyle>
          <a:p>
            <a:pPr>
              <a:defRPr sz="1800">
                <a:uFillTx/>
              </a:defRPr>
            </a:pPr>
            <a:r>
              <a:rPr lang="en-US">
                <a:ea typeface="+mn-lt"/>
                <a:cs typeface="+mn-lt"/>
              </a:rPr>
              <a:t>App Movil, </a:t>
            </a:r>
            <a:r>
              <a:rPr lang="en-US" err="1">
                <a:ea typeface="+mn-lt"/>
                <a:cs typeface="+mn-lt"/>
              </a:rPr>
              <a:t>integración</a:t>
            </a:r>
            <a:r>
              <a:rPr lang="en-US">
                <a:ea typeface="+mn-lt"/>
                <a:cs typeface="+mn-lt"/>
              </a:rPr>
              <a:t> con </a:t>
            </a:r>
            <a:r>
              <a:rPr lang="en-US" err="1">
                <a:ea typeface="+mn-lt"/>
                <a:cs typeface="+mn-lt"/>
              </a:rPr>
              <a:t>laboratorios</a:t>
            </a:r>
            <a:r>
              <a:rPr lang="en-US">
                <a:ea typeface="+mn-lt"/>
                <a:cs typeface="+mn-lt"/>
              </a:rPr>
              <a:t> </a:t>
            </a:r>
            <a:r>
              <a:rPr lang="en-US" err="1">
                <a:ea typeface="+mn-lt"/>
                <a:cs typeface="+mn-lt"/>
              </a:rPr>
              <a:t>externos</a:t>
            </a:r>
            <a:r>
              <a:rPr lang="en-US">
                <a:ea typeface="+mn-lt"/>
                <a:cs typeface="+mn-lt"/>
              </a:rPr>
              <a:t>, </a:t>
            </a:r>
            <a:r>
              <a:rPr lang="en-US" err="1">
                <a:ea typeface="+mn-lt"/>
                <a:cs typeface="+mn-lt"/>
              </a:rPr>
              <a:t>facturación</a:t>
            </a:r>
            <a:r>
              <a:rPr lang="en-US">
                <a:ea typeface="+mn-lt"/>
                <a:cs typeface="+mn-lt"/>
              </a:rPr>
              <a:t> </a:t>
            </a:r>
            <a:r>
              <a:rPr lang="en-US" err="1">
                <a:ea typeface="+mn-lt"/>
                <a:cs typeface="+mn-lt"/>
              </a:rPr>
              <a:t>electrónica</a:t>
            </a:r>
            <a:endParaRPr sz="3200" err="1">
              <a:uFill>
                <a:solidFill/>
              </a:uFill>
            </a:endParaRPr>
          </a:p>
        </p:txBody>
      </p:sp>
      <p:sp>
        <p:nvSpPr>
          <p:cNvPr id="100" name="Shape 100"/>
          <p:cNvSpPr/>
          <p:nvPr/>
        </p:nvSpPr>
        <p:spPr>
          <a:xfrm>
            <a:off x="626185" y="4495800"/>
            <a:ext cx="2664191" cy="1923604"/>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nchor="t">
            <a:spAutoFit/>
          </a:bodyPr>
          <a:lstStyle/>
          <a:p>
            <a:pPr lvl="0">
              <a:defRPr>
                <a:uFillTx/>
              </a:defRPr>
            </a:pPr>
            <a:r>
              <a:rPr sz="2400" b="1">
                <a:uFill>
                  <a:solidFill/>
                </a:uFill>
              </a:rPr>
              <a:t>Technologies:</a:t>
            </a:r>
            <a:endParaRPr>
              <a:uFill>
                <a:solidFill/>
              </a:uFill>
            </a:endParaRPr>
          </a:p>
          <a:p>
            <a:pPr>
              <a:buSzPct val="100000"/>
              <a:buFont typeface="Arial"/>
              <a:buChar char="•"/>
              <a:defRPr>
                <a:uFillTx/>
              </a:defRPr>
            </a:pPr>
            <a:r>
              <a:rPr lang="en-US" sz="2400">
                <a:ea typeface="+mn-lt"/>
                <a:cs typeface="+mn-lt"/>
              </a:rPr>
              <a:t>JavaScript / C#</a:t>
            </a:r>
            <a:endParaRPr>
              <a:uFill>
                <a:solidFill/>
              </a:uFill>
            </a:endParaRPr>
          </a:p>
          <a:p>
            <a:pPr>
              <a:buSzPct val="100000"/>
              <a:buFont typeface="Arial"/>
              <a:buChar char="•"/>
              <a:defRPr>
                <a:uFillTx/>
              </a:defRPr>
            </a:pPr>
            <a:r>
              <a:rPr lang="en-US" sz="2400">
                <a:ea typeface="+mn-lt"/>
                <a:cs typeface="+mn-lt"/>
              </a:rPr>
              <a:t>React / .NET</a:t>
            </a:r>
            <a:endParaRPr err="1">
              <a:uFill>
                <a:solidFill/>
              </a:uFill>
            </a:endParaRPr>
          </a:p>
          <a:p>
            <a:pPr>
              <a:buSzPct val="100000"/>
              <a:buFont typeface="Arial"/>
              <a:buChar char="•"/>
              <a:defRPr>
                <a:uFillTx/>
              </a:defRPr>
            </a:pPr>
            <a:r>
              <a:rPr lang="en-US" sz="2400">
                <a:ea typeface="+mn-lt"/>
                <a:cs typeface="+mn-lt"/>
              </a:rPr>
              <a:t>Git, Postman, Azure</a:t>
            </a:r>
            <a:endParaRPr>
              <a:uFill>
                <a:solidFill/>
              </a:uFill>
            </a:endParaRPr>
          </a:p>
          <a:p>
            <a:pPr>
              <a:buSzPct val="100000"/>
              <a:buFont typeface="Arial"/>
              <a:buChar char="•"/>
              <a:defRPr>
                <a:uFillTx/>
              </a:defRPr>
            </a:pPr>
            <a:r>
              <a:rPr lang="en-US" sz="2400">
                <a:uFillTx/>
                <a:ea typeface="+mn-lt"/>
                <a:cs typeface="+mn-lt"/>
              </a:rPr>
              <a:t>SQL Server</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image1.png"/>
          <p:cNvPicPr/>
          <p:nvPr/>
        </p:nvPicPr>
        <p:blipFill>
          <a:blip r:embed="rId3"/>
          <a:stretch>
            <a:fillRect/>
          </a:stretch>
        </p:blipFill>
        <p:spPr>
          <a:xfrm>
            <a:off x="7848600" y="6311900"/>
            <a:ext cx="1117600" cy="393700"/>
          </a:xfrm>
          <a:prstGeom prst="rect">
            <a:avLst/>
          </a:prstGeom>
          <a:ln w="12700">
            <a:miter lim="400000"/>
          </a:ln>
        </p:spPr>
      </p:pic>
      <p:sp>
        <p:nvSpPr>
          <p:cNvPr id="105" name="Shape 105"/>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What keeps us up at night</a:t>
            </a:r>
          </a:p>
        </p:txBody>
      </p:sp>
      <p:sp>
        <p:nvSpPr>
          <p:cNvPr id="106" name="Shape 106"/>
          <p:cNvSpPr>
            <a:spLocks noGrp="1"/>
          </p:cNvSpPr>
          <p:nvPr>
            <p:ph type="body" idx="1"/>
          </p:nvPr>
        </p:nvSpPr>
        <p:spPr>
          <a:prstGeom prst="rect">
            <a:avLst/>
          </a:prstGeom>
        </p:spPr>
        <p:txBody>
          <a:bodyPr lIns="38100" tIns="38100" rIns="38100" bIns="38100" anchor="t"/>
          <a:lstStyle/>
          <a:p>
            <a:pPr>
              <a:defRPr sz="1800">
                <a:uFillTx/>
              </a:defRPr>
            </a:pPr>
            <a:r>
              <a:rPr lang="en-US" err="1">
                <a:ea typeface="+mn-lt"/>
                <a:cs typeface="+mn-lt"/>
              </a:rPr>
              <a:t>Que</a:t>
            </a:r>
            <a:r>
              <a:rPr lang="en-US">
                <a:ea typeface="+mn-lt"/>
                <a:cs typeface="+mn-lt"/>
              </a:rPr>
              <a:t> </a:t>
            </a:r>
            <a:r>
              <a:rPr lang="en-US" err="1">
                <a:ea typeface="+mn-lt"/>
                <a:cs typeface="+mn-lt"/>
              </a:rPr>
              <a:t>los</a:t>
            </a:r>
            <a:r>
              <a:rPr lang="en-US">
                <a:ea typeface="+mn-lt"/>
                <a:cs typeface="+mn-lt"/>
              </a:rPr>
              <a:t> </a:t>
            </a:r>
            <a:r>
              <a:rPr lang="en-US" err="1">
                <a:ea typeface="+mn-lt"/>
                <a:cs typeface="+mn-lt"/>
              </a:rPr>
              <a:t>veterinarios</a:t>
            </a:r>
            <a:r>
              <a:rPr lang="en-US">
                <a:ea typeface="+mn-lt"/>
                <a:cs typeface="+mn-lt"/>
              </a:rPr>
              <a:t> </a:t>
            </a:r>
            <a:r>
              <a:rPr lang="en-US" err="1">
                <a:ea typeface="+mn-lt"/>
                <a:cs typeface="+mn-lt"/>
              </a:rPr>
              <a:t>rechacen</a:t>
            </a:r>
            <a:r>
              <a:rPr lang="en-US">
                <a:ea typeface="+mn-lt"/>
                <a:cs typeface="+mn-lt"/>
              </a:rPr>
              <a:t> el </a:t>
            </a:r>
            <a:r>
              <a:rPr lang="en-US" err="1">
                <a:ea typeface="+mn-lt"/>
                <a:cs typeface="+mn-lt"/>
              </a:rPr>
              <a:t>sistema</a:t>
            </a:r>
            <a:r>
              <a:rPr lang="en-US">
                <a:ea typeface="+mn-lt"/>
                <a:cs typeface="+mn-lt"/>
              </a:rPr>
              <a:t> y </a:t>
            </a:r>
            <a:r>
              <a:rPr lang="en-US" err="1">
                <a:ea typeface="+mn-lt"/>
                <a:cs typeface="+mn-lt"/>
              </a:rPr>
              <a:t>sigan</a:t>
            </a:r>
            <a:r>
              <a:rPr lang="en-US">
                <a:ea typeface="+mn-lt"/>
                <a:cs typeface="+mn-lt"/>
              </a:rPr>
              <a:t> </a:t>
            </a:r>
            <a:r>
              <a:rPr lang="en-US" err="1">
                <a:ea typeface="+mn-lt"/>
                <a:cs typeface="+mn-lt"/>
              </a:rPr>
              <a:t>usando</a:t>
            </a:r>
            <a:r>
              <a:rPr lang="en-US">
                <a:ea typeface="+mn-lt"/>
                <a:cs typeface="+mn-lt"/>
              </a:rPr>
              <a:t> </a:t>
            </a:r>
            <a:r>
              <a:rPr lang="en-US" err="1">
                <a:ea typeface="+mn-lt"/>
                <a:cs typeface="+mn-lt"/>
              </a:rPr>
              <a:t>papel</a:t>
            </a:r>
            <a:r>
              <a:rPr lang="en-US">
                <a:ea typeface="+mn-lt"/>
                <a:cs typeface="+mn-lt"/>
              </a:rPr>
              <a:t> </a:t>
            </a:r>
            <a:r>
              <a:rPr lang="en-US" err="1">
                <a:ea typeface="+mn-lt"/>
                <a:cs typeface="+mn-lt"/>
              </a:rPr>
              <a:t>por</a:t>
            </a:r>
            <a:r>
              <a:rPr lang="en-US">
                <a:ea typeface="+mn-lt"/>
                <a:cs typeface="+mn-lt"/>
              </a:rPr>
              <a:t> </a:t>
            </a:r>
            <a:r>
              <a:rPr lang="en-US" err="1">
                <a:ea typeface="+mn-lt"/>
                <a:cs typeface="+mn-lt"/>
              </a:rPr>
              <a:t>resistencia</a:t>
            </a:r>
            <a:r>
              <a:rPr lang="en-US">
                <a:ea typeface="+mn-lt"/>
                <a:cs typeface="+mn-lt"/>
              </a:rPr>
              <a:t> al </a:t>
            </a:r>
            <a:r>
              <a:rPr lang="en-US" err="1">
                <a:ea typeface="+mn-lt"/>
                <a:cs typeface="+mn-lt"/>
              </a:rPr>
              <a:t>cambio</a:t>
            </a:r>
            <a:endParaRPr lang="en-US" sz="3200" err="1">
              <a:uFill>
                <a:solidFill/>
              </a:uFill>
            </a:endParaRPr>
          </a:p>
          <a:p>
            <a:pPr>
              <a:defRPr sz="1800">
                <a:uFillTx/>
              </a:defRPr>
            </a:pPr>
            <a:endParaRPr lang="en-US">
              <a:ea typeface="+mn-lt"/>
              <a:cs typeface="+mn-lt"/>
            </a:endParaRPr>
          </a:p>
          <a:p>
            <a:pPr>
              <a:defRPr sz="1800">
                <a:uFillTx/>
              </a:defRPr>
            </a:pPr>
            <a:r>
              <a:rPr lang="en-US" err="1">
                <a:ea typeface="+mn-lt"/>
                <a:cs typeface="+mn-lt"/>
              </a:rPr>
              <a:t>Pérdida</a:t>
            </a:r>
            <a:r>
              <a:rPr lang="en-US">
                <a:ea typeface="+mn-lt"/>
                <a:cs typeface="+mn-lt"/>
              </a:rPr>
              <a:t> o </a:t>
            </a:r>
            <a:r>
              <a:rPr lang="en-US" err="1">
                <a:ea typeface="+mn-lt"/>
                <a:cs typeface="+mn-lt"/>
              </a:rPr>
              <a:t>corrupción</a:t>
            </a:r>
            <a:r>
              <a:rPr lang="en-US">
                <a:ea typeface="+mn-lt"/>
                <a:cs typeface="+mn-lt"/>
              </a:rPr>
              <a:t> de </a:t>
            </a:r>
            <a:r>
              <a:rPr lang="en-US" err="1">
                <a:ea typeface="+mn-lt"/>
                <a:cs typeface="+mn-lt"/>
              </a:rPr>
              <a:t>los</a:t>
            </a:r>
            <a:r>
              <a:rPr lang="en-US">
                <a:ea typeface="+mn-lt"/>
                <a:cs typeface="+mn-lt"/>
              </a:rPr>
              <a:t> </a:t>
            </a:r>
            <a:r>
              <a:rPr lang="en-US" err="1">
                <a:ea typeface="+mn-lt"/>
                <a:cs typeface="+mn-lt"/>
              </a:rPr>
              <a:t>expedientes</a:t>
            </a:r>
            <a:r>
              <a:rPr lang="en-US">
                <a:ea typeface="+mn-lt"/>
                <a:cs typeface="+mn-lt"/>
              </a:rPr>
              <a:t> </a:t>
            </a:r>
            <a:r>
              <a:rPr lang="en-US" err="1">
                <a:ea typeface="+mn-lt"/>
                <a:cs typeface="+mn-lt"/>
              </a:rPr>
              <a:t>médicos</a:t>
            </a:r>
            <a:r>
              <a:rPr lang="en-US">
                <a:ea typeface="+mn-lt"/>
                <a:cs typeface="+mn-lt"/>
              </a:rPr>
              <a:t> de las </a:t>
            </a:r>
            <a:r>
              <a:rPr lang="en-US" err="1">
                <a:ea typeface="+mn-lt"/>
                <a:cs typeface="+mn-lt"/>
              </a:rPr>
              <a:t>mascotas</a:t>
            </a:r>
            <a:r>
              <a:rPr lang="en-US">
                <a:ea typeface="+mn-lt"/>
                <a:cs typeface="+mn-lt"/>
              </a:rPr>
              <a:t> </a:t>
            </a:r>
            <a:r>
              <a:rPr lang="en-US" err="1">
                <a:ea typeface="+mn-lt"/>
                <a:cs typeface="+mn-lt"/>
              </a:rPr>
              <a:t>por</a:t>
            </a:r>
            <a:r>
              <a:rPr lang="en-US">
                <a:ea typeface="+mn-lt"/>
                <a:cs typeface="+mn-lt"/>
              </a:rPr>
              <a:t> </a:t>
            </a:r>
            <a:r>
              <a:rPr lang="en-US" err="1">
                <a:ea typeface="+mn-lt"/>
                <a:cs typeface="+mn-lt"/>
              </a:rPr>
              <a:t>fallo</a:t>
            </a:r>
            <a:r>
              <a:rPr lang="en-US">
                <a:ea typeface="+mn-lt"/>
                <a:cs typeface="+mn-lt"/>
              </a:rPr>
              <a:t> </a:t>
            </a:r>
            <a:r>
              <a:rPr lang="en-US" err="1">
                <a:ea typeface="+mn-lt"/>
                <a:cs typeface="+mn-lt"/>
              </a:rPr>
              <a:t>en</a:t>
            </a:r>
            <a:r>
              <a:rPr lang="en-US">
                <a:ea typeface="+mn-lt"/>
                <a:cs typeface="+mn-lt"/>
              </a:rPr>
              <a:t> la base de </a:t>
            </a:r>
            <a:r>
              <a:rPr lang="en-US" err="1">
                <a:ea typeface="+mn-lt"/>
                <a:cs typeface="+mn-lt"/>
              </a:rPr>
              <a:t>datos</a:t>
            </a:r>
            <a:endParaRPr lang="en-US" sz="3200" err="1">
              <a:uFill>
                <a:solidFill/>
              </a:uFill>
              <a:ea typeface="+mn-lt"/>
              <a:cs typeface="+mn-lt"/>
            </a:endParaRPr>
          </a:p>
          <a:p>
            <a:pPr marL="0" indent="0">
              <a:buNone/>
              <a:defRPr sz="1800">
                <a:uFillTx/>
              </a:defRPr>
            </a:pPr>
            <a:endParaRPr lang="en-US">
              <a:ea typeface="+mn-lt"/>
              <a:cs typeface="+mn-lt"/>
            </a:endParaRPr>
          </a:p>
          <a:p>
            <a:pPr>
              <a:defRPr sz="1800">
                <a:uFillTx/>
              </a:defRPr>
            </a:pPr>
            <a:r>
              <a:rPr lang="en-US" err="1">
                <a:ea typeface="+mn-lt"/>
                <a:cs typeface="+mn-lt"/>
              </a:rPr>
              <a:t>Que</a:t>
            </a:r>
            <a:r>
              <a:rPr lang="en-US">
                <a:ea typeface="+mn-lt"/>
                <a:cs typeface="+mn-lt"/>
              </a:rPr>
              <a:t> el </a:t>
            </a:r>
            <a:r>
              <a:rPr lang="en-US" err="1">
                <a:ea typeface="+mn-lt"/>
                <a:cs typeface="+mn-lt"/>
              </a:rPr>
              <a:t>tiempo</a:t>
            </a:r>
            <a:r>
              <a:rPr lang="en-US">
                <a:ea typeface="+mn-lt"/>
                <a:cs typeface="+mn-lt"/>
              </a:rPr>
              <a:t> de </a:t>
            </a:r>
            <a:r>
              <a:rPr lang="en-US" err="1">
                <a:ea typeface="+mn-lt"/>
                <a:cs typeface="+mn-lt"/>
              </a:rPr>
              <a:t>desarrollo</a:t>
            </a:r>
            <a:r>
              <a:rPr lang="en-US">
                <a:ea typeface="+mn-lt"/>
                <a:cs typeface="+mn-lt"/>
              </a:rPr>
              <a:t> no </a:t>
            </a:r>
            <a:r>
              <a:rPr lang="en-US" err="1">
                <a:ea typeface="+mn-lt"/>
                <a:cs typeface="+mn-lt"/>
              </a:rPr>
              <a:t>alcance</a:t>
            </a:r>
            <a:r>
              <a:rPr lang="en-US">
                <a:ea typeface="+mn-lt"/>
                <a:cs typeface="+mn-lt"/>
              </a:rPr>
              <a:t> para </a:t>
            </a:r>
            <a:r>
              <a:rPr lang="en-US" err="1">
                <a:ea typeface="+mn-lt"/>
                <a:cs typeface="+mn-lt"/>
              </a:rPr>
              <a:t>entregar</a:t>
            </a:r>
            <a:r>
              <a:rPr lang="en-US">
                <a:ea typeface="+mn-lt"/>
                <a:cs typeface="+mn-lt"/>
              </a:rPr>
              <a:t> un </a:t>
            </a:r>
            <a:r>
              <a:rPr lang="en-US" err="1">
                <a:ea typeface="+mn-lt"/>
                <a:cs typeface="+mn-lt"/>
              </a:rPr>
              <a:t>sistema</a:t>
            </a:r>
            <a:r>
              <a:rPr lang="en-US">
                <a:ea typeface="+mn-lt"/>
                <a:cs typeface="+mn-lt"/>
              </a:rPr>
              <a:t> </a:t>
            </a:r>
            <a:r>
              <a:rPr lang="en-US" err="1">
                <a:ea typeface="+mn-lt"/>
                <a:cs typeface="+mn-lt"/>
              </a:rPr>
              <a:t>funcional</a:t>
            </a:r>
            <a:r>
              <a:rPr lang="en-US">
                <a:ea typeface="+mn-lt"/>
                <a:cs typeface="+mn-lt"/>
              </a:rPr>
              <a:t> antes de la </a:t>
            </a:r>
            <a:r>
              <a:rPr lang="en-US" err="1">
                <a:ea typeface="+mn-lt"/>
                <a:cs typeface="+mn-lt"/>
              </a:rPr>
              <a:t>fecha</a:t>
            </a:r>
            <a:r>
              <a:rPr lang="en-US">
                <a:ea typeface="+mn-lt"/>
                <a:cs typeface="+mn-lt"/>
              </a:rPr>
              <a:t> de </a:t>
            </a:r>
            <a:r>
              <a:rPr lang="en-US" err="1">
                <a:ea typeface="+mn-lt"/>
                <a:cs typeface="+mn-lt"/>
              </a:rPr>
              <a:t>entrega</a:t>
            </a:r>
            <a:endParaRPr lang="en-US" sz="3200" err="1">
              <a:uFill>
                <a:solidFill/>
              </a:uFill>
              <a:ea typeface="+mn-lt"/>
              <a:cs typeface="+mn-lt"/>
            </a:endParaRPr>
          </a:p>
        </p:txBody>
      </p:sp>
      <p:sp>
        <p:nvSpPr>
          <p:cNvPr id="107" name="Shape 107"/>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pic>
        <p:nvPicPr>
          <p:cNvPr id="108" name="droppedImage.pdf"/>
          <p:cNvPicPr/>
          <p:nvPr/>
        </p:nvPicPr>
        <p:blipFill>
          <a:blip r:embed="rId4"/>
          <a:stretch>
            <a:fillRect/>
          </a:stretch>
        </p:blipFill>
        <p:spPr>
          <a:xfrm flipH="1">
            <a:off x="7226300" y="4330700"/>
            <a:ext cx="1206500" cy="2146300"/>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mage1.png"/>
          <p:cNvPicPr/>
          <p:nvPr/>
        </p:nvPicPr>
        <p:blipFill>
          <a:blip r:embed="rId3"/>
          <a:stretch>
            <a:fillRect/>
          </a:stretch>
        </p:blipFill>
        <p:spPr>
          <a:xfrm>
            <a:off x="7848600" y="6311900"/>
            <a:ext cx="1117600" cy="393700"/>
          </a:xfrm>
          <a:prstGeom prst="rect">
            <a:avLst/>
          </a:prstGeom>
          <a:ln w="12700">
            <a:miter lim="400000"/>
          </a:ln>
        </p:spPr>
      </p:pic>
      <p:sp>
        <p:nvSpPr>
          <p:cNvPr id="113" name="Shape 113"/>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A-Team</a:t>
            </a:r>
          </a:p>
        </p:txBody>
      </p:sp>
      <p:graphicFrame>
        <p:nvGraphicFramePr>
          <p:cNvPr id="114" name="Table 114"/>
          <p:cNvGraphicFramePr/>
          <p:nvPr>
            <p:extLst>
              <p:ext uri="{D42A27DB-BD31-4B8C-83A1-F6EECF244321}">
                <p14:modId xmlns:p14="http://schemas.microsoft.com/office/powerpoint/2010/main" val="965156589"/>
              </p:ext>
            </p:extLst>
          </p:nvPr>
        </p:nvGraphicFramePr>
        <p:xfrm>
          <a:off x="685800" y="1396999"/>
          <a:ext cx="7924800" cy="4458970"/>
        </p:xfrm>
        <a:graphic>
          <a:graphicData uri="http://schemas.openxmlformats.org/drawingml/2006/table">
            <a:tbl>
              <a:tblPr firstRow="1" bandRow="1">
                <a:tableStyleId>{8F44A2F1-9E1F-4B54-A3A2-5F16C0AD49E2}</a:tableStyleId>
              </a:tblPr>
              <a:tblGrid>
                <a:gridCol w="609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516890">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Role</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Competencies/Expectations</a:t>
                      </a:r>
                    </a:p>
                  </a:txBody>
                  <a:tcPr marL="38100" marR="38100" marT="38100" marB="38100" horzOverflow="overflow"/>
                </a:tc>
                <a:extLst>
                  <a:ext uri="{0D108BD9-81ED-4DB2-BD59-A6C34878D82A}">
                    <a16:rowId xmlns:a16="http://schemas.microsoft.com/office/drawing/2014/main" val="10000"/>
                  </a:ext>
                </a:extLst>
              </a:tr>
              <a:tr h="516890">
                <a:tc>
                  <a:txBody>
                    <a:bodyPr/>
                    <a:lstStyle/>
                    <a:p>
                      <a:pPr lvl="0" algn="l">
                        <a:tabLst>
                          <a:tab pos="914400" algn="l"/>
                        </a:tabLst>
                        <a:defRPr sz="1800">
                          <a:uFillTx/>
                        </a:defRPr>
                      </a:pPr>
                      <a:r>
                        <a:rPr>
                          <a:uFill>
                            <a:solidFill/>
                          </a:uFill>
                        </a:rPr>
                        <a:t>1</a:t>
                      </a:r>
                    </a:p>
                  </a:txBody>
                  <a:tcPr marL="38100" marR="38100" marT="38100" marB="38100" horzOverflow="overflow"/>
                </a:tc>
                <a:tc>
                  <a:txBody>
                    <a:bodyPr/>
                    <a:lstStyle/>
                    <a:p>
                      <a:pPr lvl="0" algn="l">
                        <a:buNone/>
                      </a:pPr>
                      <a:r>
                        <a:rPr lang="es-ES" sz="1200" b="0" i="0" u="none" strike="noStrike" noProof="0" err="1">
                          <a:solidFill>
                            <a:srgbClr val="000000"/>
                          </a:solidFill>
                          <a:uFill>
                            <a:solidFill/>
                          </a:uFill>
                          <a:latin typeface="Calibri"/>
                          <a:ea typeface="Calibri"/>
                          <a:cs typeface="Calibri"/>
                        </a:rPr>
                        <a:t>Product</a:t>
                      </a:r>
                      <a:r>
                        <a:rPr lang="es-ES" sz="1200" b="0" i="0" u="none" strike="noStrike" noProof="0">
                          <a:solidFill>
                            <a:srgbClr val="000000"/>
                          </a:solidFill>
                          <a:uFill>
                            <a:solidFill/>
                          </a:uFill>
                          <a:latin typeface="Calibri"/>
                          <a:ea typeface="Calibri"/>
                          <a:cs typeface="Calibri"/>
                        </a:rPr>
                        <a:t> Owner</a:t>
                      </a:r>
                      <a:endParaRPr/>
                    </a:p>
                  </a:txBody>
                  <a:tcPr marL="38100" marR="38100" marT="38100" marB="38100" horzOverflow="overflow"/>
                </a:tc>
                <a:tc>
                  <a:txBody>
                    <a:bodyPr/>
                    <a:lstStyle/>
                    <a:p>
                      <a:pPr lvl="0" algn="l">
                        <a:lnSpc>
                          <a:spcPct val="100000"/>
                        </a:lnSpc>
                        <a:spcBef>
                          <a:spcPts val="0"/>
                        </a:spcBef>
                        <a:spcAft>
                          <a:spcPts val="0"/>
                        </a:spcAft>
                        <a:buNone/>
                      </a:pPr>
                      <a:r>
                        <a:rPr lang="es-ES" sz="1200" b="0" i="0" u="none" strike="noStrike" noProof="0">
                          <a:uFill>
                            <a:solidFill/>
                          </a:uFill>
                          <a:latin typeface="Calibri"/>
                          <a:ea typeface="Calibri"/>
                          <a:cs typeface="Calibri"/>
                        </a:rPr>
                        <a:t>Gestion de Backlog.</a:t>
                      </a:r>
                      <a:endParaRPr lang="es-ES" sz="1200" b="0" i="0" u="none" strike="noStrike" noProof="0">
                        <a:latin typeface="Calibri"/>
                        <a:ea typeface="Calibri"/>
                        <a:cs typeface="Calibri"/>
                      </a:endParaRPr>
                    </a:p>
                    <a:p>
                      <a:pPr lvl="0" algn="l">
                        <a:lnSpc>
                          <a:spcPct val="100000"/>
                        </a:lnSpc>
                        <a:spcBef>
                          <a:spcPts val="0"/>
                        </a:spcBef>
                        <a:spcAft>
                          <a:spcPts val="0"/>
                        </a:spcAft>
                        <a:buNone/>
                      </a:pPr>
                      <a:r>
                        <a:rPr lang="es-ES" sz="1200" b="0" i="0" u="none" strike="noStrike" noProof="0">
                          <a:uFill>
                            <a:solidFill/>
                          </a:uFill>
                          <a:latin typeface="Calibri"/>
                          <a:ea typeface="Calibri"/>
                          <a:cs typeface="Calibri"/>
                        </a:rPr>
                        <a:t>Analisis Just-In-Time.</a:t>
                      </a:r>
                      <a:endParaRPr lang="es-ES" sz="1200" b="0" i="0" u="none" strike="noStrike" noProof="0">
                        <a:latin typeface="Calibri"/>
                        <a:ea typeface="Calibri"/>
                        <a:cs typeface="Calibri"/>
                      </a:endParaRPr>
                    </a:p>
                    <a:p>
                      <a:pPr lvl="0" algn="l">
                        <a:buNone/>
                      </a:pPr>
                      <a:r>
                        <a:rPr lang="es-ES" sz="1200" b="0" i="0" u="none" strike="noStrike" noProof="0">
                          <a:uFill>
                            <a:solidFill/>
                          </a:uFill>
                          <a:latin typeface="Calibri"/>
                          <a:ea typeface="Calibri"/>
                          <a:cs typeface="Calibri"/>
                        </a:rPr>
                        <a:t>Orientacion al Negocio y al Usuario.</a:t>
                      </a:r>
                      <a:endParaRPr lang="es-ES" sz="1200" b="0" i="0" u="none" strike="noStrike" noProof="0">
                        <a:latin typeface="Calibri"/>
                        <a:ea typeface="Calibri"/>
                        <a:cs typeface="Calibri"/>
                      </a:endParaRPr>
                    </a:p>
                  </a:txBody>
                  <a:tcPr marL="38100" marR="38100" marT="38100" marB="38100" horzOverflow="overflow"/>
                </a:tc>
                <a:extLst>
                  <a:ext uri="{0D108BD9-81ED-4DB2-BD59-A6C34878D82A}">
                    <a16:rowId xmlns:a16="http://schemas.microsoft.com/office/drawing/2014/main" val="10001"/>
                  </a:ext>
                </a:extLst>
              </a:tr>
              <a:tr h="516890">
                <a:tc>
                  <a:txBody>
                    <a:bodyPr/>
                    <a:lstStyle/>
                    <a:p>
                      <a:pPr lvl="0" algn="l">
                        <a:tabLst>
                          <a:tab pos="914400" algn="l"/>
                        </a:tabLst>
                        <a:defRPr sz="1800">
                          <a:uFillTx/>
                        </a:defRPr>
                      </a:pPr>
                      <a:r>
                        <a:rPr>
                          <a:uFill>
                            <a:solidFill/>
                          </a:uFill>
                        </a:rPr>
                        <a:t>2</a:t>
                      </a:r>
                    </a:p>
                  </a:txBody>
                  <a:tcPr marL="38100" marR="38100" marT="38100" marB="38100" horzOverflow="overflow"/>
                </a:tc>
                <a:tc>
                  <a:txBody>
                    <a:bodyPr/>
                    <a:lstStyle/>
                    <a:p>
                      <a:pPr lvl="0" algn="l">
                        <a:tabLst>
                          <a:tab pos="914400" algn="l"/>
                        </a:tabLst>
                        <a:defRPr sz="1800">
                          <a:uFillTx/>
                        </a:defRPr>
                      </a:pPr>
                      <a:r>
                        <a:rPr>
                          <a:uFill>
                            <a:solidFill/>
                          </a:uFill>
                        </a:rPr>
                        <a:t>Developers</a:t>
                      </a:r>
                    </a:p>
                  </a:txBody>
                  <a:tcPr marL="38100" marR="38100" marT="38100" marB="38100" horzOverflow="overflow"/>
                </a:tc>
                <a:tc>
                  <a:txBody>
                    <a:bodyPr/>
                    <a:lstStyle/>
                    <a:p>
                      <a:pPr lvl="0" algn="l">
                        <a:lnSpc>
                          <a:spcPct val="100000"/>
                        </a:lnSpc>
                        <a:spcBef>
                          <a:spcPts val="0"/>
                        </a:spcBef>
                        <a:spcAft>
                          <a:spcPts val="0"/>
                        </a:spcAft>
                        <a:buNone/>
                      </a:pPr>
                      <a:r>
                        <a:rPr lang="en-US" sz="1200" b="0" i="0" u="none" strike="noStrike" noProof="0">
                          <a:uFill>
                            <a:solidFill/>
                          </a:uFill>
                          <a:latin typeface="Calibri"/>
                          <a:ea typeface="Calibri"/>
                          <a:cs typeface="Calibri"/>
                        </a:rPr>
                        <a:t>Excelencia Tecnica y Calidad de Codigo.</a:t>
                      </a:r>
                      <a:endParaRPr lang="es-ES"/>
                    </a:p>
                    <a:p>
                      <a:pPr lvl="0" algn="l">
                        <a:lnSpc>
                          <a:spcPct val="100000"/>
                        </a:lnSpc>
                        <a:spcBef>
                          <a:spcPts val="0"/>
                        </a:spcBef>
                        <a:spcAft>
                          <a:spcPts val="0"/>
                        </a:spcAft>
                        <a:buNone/>
                      </a:pPr>
                      <a:r>
                        <a:rPr lang="en-US" sz="1200" b="0" i="0" u="none" strike="noStrike" noProof="0">
                          <a:uFill>
                            <a:solidFill/>
                          </a:uFill>
                          <a:latin typeface="Calibri"/>
                          <a:ea typeface="Calibri"/>
                          <a:cs typeface="Calibri"/>
                        </a:rPr>
                        <a:t>Pruebas Unitarias y Refactorizacion.</a:t>
                      </a:r>
                    </a:p>
                    <a:p>
                      <a:pPr lvl="0" algn="l">
                        <a:buNone/>
                      </a:pPr>
                      <a:r>
                        <a:rPr lang="en-US" sz="1200" b="0" i="0" u="none" strike="noStrike" noProof="0">
                          <a:uFill>
                            <a:solidFill/>
                          </a:uFill>
                          <a:latin typeface="Calibri"/>
                          <a:ea typeface="Calibri"/>
                          <a:cs typeface="Calibri"/>
                        </a:rPr>
                        <a:t>Autogestion y Entrega de Valor.</a:t>
                      </a:r>
                      <a:endParaRPr/>
                    </a:p>
                  </a:txBody>
                  <a:tcPr marL="38100" marR="38100" marT="38100" marB="38100" horzOverflow="overflow"/>
                </a:tc>
                <a:extLst>
                  <a:ext uri="{0D108BD9-81ED-4DB2-BD59-A6C34878D82A}">
                    <a16:rowId xmlns:a16="http://schemas.microsoft.com/office/drawing/2014/main" val="10002"/>
                  </a:ext>
                </a:extLst>
              </a:tr>
              <a:tr h="516890">
                <a:tc>
                  <a:txBody>
                    <a:bodyPr/>
                    <a:lstStyle/>
                    <a:p>
                      <a:pPr lvl="0" algn="l">
                        <a:tabLst>
                          <a:tab pos="914400" algn="l"/>
                        </a:tabLst>
                        <a:defRPr sz="1800">
                          <a:uFillTx/>
                        </a:defRPr>
                      </a:pPr>
                      <a:r>
                        <a:rPr lang="es-ES">
                          <a:uFill>
                            <a:solidFill/>
                          </a:uFill>
                        </a:rPr>
                        <a:t>3</a:t>
                      </a:r>
                      <a:endParaRPr>
                        <a:uFill>
                          <a:solidFill/>
                        </a:uFill>
                      </a:endParaRPr>
                    </a:p>
                  </a:txBody>
                  <a:tcPr marL="38100" marR="38100" marT="38100" marB="38100" horzOverflow="overflow"/>
                </a:tc>
                <a:tc>
                  <a:txBody>
                    <a:bodyPr/>
                    <a:lstStyle/>
                    <a:p>
                      <a:pPr lvl="0" algn="l"/>
                      <a:r>
                        <a:rPr lang="es-ES">
                          <a:uFill>
                            <a:solidFill/>
                          </a:uFill>
                        </a:rPr>
                        <a:t>Scrum Master</a:t>
                      </a:r>
                      <a:endParaRPr>
                        <a:uFill>
                          <a:solidFill/>
                        </a:uFill>
                      </a:endParaRPr>
                    </a:p>
                  </a:txBody>
                  <a:tcPr marL="38100" marR="38100" marT="38100" marB="38100" horzOverflow="overflow"/>
                </a:tc>
                <a:tc>
                  <a:txBody>
                    <a:bodyPr/>
                    <a:lstStyle/>
                    <a:p>
                      <a:pPr lvl="0" algn="l">
                        <a:lnSpc>
                          <a:spcPct val="100000"/>
                        </a:lnSpc>
                        <a:spcBef>
                          <a:spcPts val="0"/>
                        </a:spcBef>
                        <a:spcAft>
                          <a:spcPts val="0"/>
                        </a:spcAft>
                        <a:buNone/>
                      </a:pPr>
                      <a:r>
                        <a:rPr lang="en-US" sz="1200" b="0" i="0" u="none" strike="noStrike" noProof="0">
                          <a:uFill>
                            <a:solidFill/>
                          </a:uFill>
                          <a:latin typeface="Calibri"/>
                          <a:ea typeface="Calibri"/>
                          <a:cs typeface="Calibri"/>
                        </a:rPr>
                        <a:t>Facilitador de Procesos y Coach.</a:t>
                      </a:r>
                      <a:endParaRPr lang="es-ES"/>
                    </a:p>
                    <a:p>
                      <a:pPr lvl="0" algn="l">
                        <a:lnSpc>
                          <a:spcPct val="100000"/>
                        </a:lnSpc>
                        <a:spcBef>
                          <a:spcPts val="0"/>
                        </a:spcBef>
                        <a:spcAft>
                          <a:spcPts val="0"/>
                        </a:spcAft>
                        <a:buNone/>
                      </a:pPr>
                      <a:r>
                        <a:rPr lang="en-US" sz="1200" b="0" i="0" u="none" strike="noStrike" noProof="0">
                          <a:uFill>
                            <a:solidFill/>
                          </a:uFill>
                          <a:latin typeface="Calibri"/>
                          <a:ea typeface="Calibri"/>
                          <a:cs typeface="Calibri"/>
                        </a:rPr>
                        <a:t>Eliminacion de Obstaculos y Bloqueos.</a:t>
                      </a:r>
                      <a:endParaRPr>
                        <a:uFill>
                          <a:solidFill/>
                        </a:uFill>
                      </a:endParaRPr>
                    </a:p>
                    <a:p>
                      <a:pPr lvl="0" algn="l">
                        <a:buNone/>
                      </a:pPr>
                      <a:r>
                        <a:rPr lang="en-US" sz="1200" b="0" i="0" u="none" strike="noStrike" noProof="0">
                          <a:uFill>
                            <a:solidFill/>
                          </a:uFill>
                          <a:latin typeface="Calibri"/>
                          <a:ea typeface="Calibri"/>
                          <a:cs typeface="Calibri"/>
                        </a:rPr>
                        <a:t>Proteccion y Bienestar del Equipo.</a:t>
                      </a:r>
                      <a:endParaRPr/>
                    </a:p>
                  </a:txBody>
                  <a:tcPr marL="38100" marR="38100" marT="38100" marB="38100" horzOverflow="overflow"/>
                </a:tc>
                <a:extLst>
                  <a:ext uri="{0D108BD9-81ED-4DB2-BD59-A6C34878D82A}">
                    <a16:rowId xmlns:a16="http://schemas.microsoft.com/office/drawing/2014/main" val="10003"/>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4"/>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5"/>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6"/>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7"/>
                  </a:ext>
                </a:extLst>
              </a:tr>
            </a:tbl>
          </a:graphicData>
        </a:graphic>
      </p:graphicFrame>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Screen shot 2011-02-08 at 5.04.54 AM.png"/>
          <p:cNvPicPr/>
          <p:nvPr/>
        </p:nvPicPr>
        <p:blipFill>
          <a:blip r:embed="rId3"/>
          <a:stretch>
            <a:fillRect/>
          </a:stretch>
        </p:blipFill>
        <p:spPr>
          <a:xfrm flipH="1">
            <a:off x="431800" y="2741950"/>
            <a:ext cx="1066800" cy="839450"/>
          </a:xfrm>
          <a:prstGeom prst="rect">
            <a:avLst/>
          </a:prstGeom>
          <a:ln w="12700">
            <a:miter lim="400000"/>
          </a:ln>
        </p:spPr>
      </p:pic>
      <p:pic>
        <p:nvPicPr>
          <p:cNvPr id="119" name="image1.png"/>
          <p:cNvPicPr/>
          <p:nvPr/>
        </p:nvPicPr>
        <p:blipFill>
          <a:blip r:embed="rId4"/>
          <a:stretch>
            <a:fillRect/>
          </a:stretch>
        </p:blipFill>
        <p:spPr>
          <a:xfrm>
            <a:off x="7848600" y="6311900"/>
            <a:ext cx="1117600" cy="393700"/>
          </a:xfrm>
          <a:prstGeom prst="rect">
            <a:avLst/>
          </a:prstGeom>
          <a:ln w="12700">
            <a:miter lim="400000"/>
          </a:ln>
        </p:spPr>
      </p:pic>
      <p:sp>
        <p:nvSpPr>
          <p:cNvPr id="120" name="Shape 1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How big is this thing?</a:t>
            </a:r>
          </a:p>
        </p:txBody>
      </p:sp>
      <p:sp>
        <p:nvSpPr>
          <p:cNvPr id="121" name="Shape 121"/>
          <p:cNvSpPr/>
          <p:nvPr/>
        </p:nvSpPr>
        <p:spPr>
          <a:xfrm>
            <a:off x="1661310" y="28194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2" name="Shape 122"/>
          <p:cNvSpPr/>
          <p:nvPr/>
        </p:nvSpPr>
        <p:spPr>
          <a:xfrm rot="5400000">
            <a:off x="34901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3" name="Shape 123"/>
          <p:cNvSpPr/>
          <p:nvPr/>
        </p:nvSpPr>
        <p:spPr>
          <a:xfrm rot="5400000">
            <a:off x="54713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4" name="Shape 124"/>
          <p:cNvSpPr/>
          <p:nvPr/>
        </p:nvSpPr>
        <p:spPr>
          <a:xfrm rot="5400000">
            <a:off x="74525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5" name="Shape 125"/>
          <p:cNvSpPr/>
          <p:nvPr/>
        </p:nvSpPr>
        <p:spPr>
          <a:xfrm>
            <a:off x="7071510" y="1371599"/>
            <a:ext cx="1928913" cy="6731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126" name="Shape 126"/>
          <p:cNvSpPr/>
          <p:nvPr/>
        </p:nvSpPr>
        <p:spPr>
          <a:xfrm>
            <a:off x="1661310" y="2209800"/>
            <a:ext cx="2294038"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127" name="Shape 127"/>
          <p:cNvSpPr/>
          <p:nvPr/>
        </p:nvSpPr>
        <p:spPr>
          <a:xfrm>
            <a:off x="4480066" y="2209800"/>
            <a:ext cx="76832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128" name="Shape 128"/>
          <p:cNvSpPr/>
          <p:nvPr/>
        </p:nvSpPr>
        <p:spPr>
          <a:xfrm>
            <a:off x="6233310" y="2219979"/>
            <a:ext cx="150453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129" name="Shape 129"/>
          <p:cNvSpPr/>
          <p:nvPr/>
        </p:nvSpPr>
        <p:spPr>
          <a:xfrm>
            <a:off x="2042310" y="2895600"/>
            <a:ext cx="182783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130" name="Shape 130"/>
          <p:cNvSpPr/>
          <p:nvPr/>
        </p:nvSpPr>
        <p:spPr>
          <a:xfrm>
            <a:off x="4368010" y="2895600"/>
            <a:ext cx="101783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1" name="Shape 131"/>
          <p:cNvSpPr/>
          <p:nvPr/>
        </p:nvSpPr>
        <p:spPr>
          <a:xfrm>
            <a:off x="6349210" y="2895600"/>
            <a:ext cx="101783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2" name="Shape 132"/>
          <p:cNvSpPr/>
          <p:nvPr/>
        </p:nvSpPr>
        <p:spPr>
          <a:xfrm>
            <a:off x="1668049" y="3886200"/>
            <a:ext cx="7470578" cy="5588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3200" b="1"/>
            </a:lvl1pPr>
          </a:lstStyle>
          <a:p>
            <a:pPr lvl="0">
              <a:defRPr sz="1800" b="0">
                <a:uFillTx/>
              </a:defRPr>
            </a:pPr>
            <a:r>
              <a:rPr sz="3200" b="1">
                <a:uFill>
                  <a:solidFill/>
                </a:uFill>
              </a:rPr>
              <a:t>This is a guess. Not a commitment.</a:t>
            </a:r>
          </a:p>
        </p:txBody>
      </p:sp>
      <p:sp>
        <p:nvSpPr>
          <p:cNvPr id="133" name="Shape 133"/>
          <p:cNvSpPr/>
          <p:nvPr/>
        </p:nvSpPr>
        <p:spPr>
          <a:xfrm>
            <a:off x="2067075" y="4480559"/>
            <a:ext cx="4713459" cy="701041"/>
          </a:xfrm>
          <a:custGeom>
            <a:avLst/>
            <a:gdLst/>
            <a:ahLst/>
            <a:cxnLst>
              <a:cxn ang="0">
                <a:pos x="wd2" y="hd2"/>
              </a:cxn>
              <a:cxn ang="5400000">
                <a:pos x="wd2" y="hd2"/>
              </a:cxn>
              <a:cxn ang="10800000">
                <a:pos x="wd2" y="hd2"/>
              </a:cxn>
              <a:cxn ang="16200000">
                <a:pos x="wd2" y="hd2"/>
              </a:cxn>
            </a:cxnLst>
            <a:rect l="0" t="0" r="r" b="b"/>
            <a:pathLst>
              <a:path w="20953" h="21600" extrusionOk="0">
                <a:moveTo>
                  <a:pt x="0" y="0"/>
                </a:moveTo>
                <a:lnTo>
                  <a:pt x="20934" y="2009"/>
                </a:lnTo>
                <a:cubicBezTo>
                  <a:pt x="21600" y="2763"/>
                  <a:pt x="4629" y="3600"/>
                  <a:pt x="3997" y="4521"/>
                </a:cubicBezTo>
                <a:cubicBezTo>
                  <a:pt x="3365" y="5442"/>
                  <a:pt x="16632" y="6614"/>
                  <a:pt x="17140" y="7535"/>
                </a:cubicBezTo>
                <a:cubicBezTo>
                  <a:pt x="17648" y="8456"/>
                  <a:pt x="7678" y="9209"/>
                  <a:pt x="7046" y="10047"/>
                </a:cubicBezTo>
                <a:cubicBezTo>
                  <a:pt x="6413" y="10884"/>
                  <a:pt x="12770" y="11763"/>
                  <a:pt x="13346" y="12558"/>
                </a:cubicBezTo>
                <a:cubicBezTo>
                  <a:pt x="13922" y="13353"/>
                  <a:pt x="11009" y="13312"/>
                  <a:pt x="10501" y="14819"/>
                </a:cubicBezTo>
                <a:cubicBezTo>
                  <a:pt x="9993" y="16326"/>
                  <a:pt x="10145" y="18963"/>
                  <a:pt x="10298" y="21600"/>
                </a:cubicBezTo>
              </a:path>
            </a:pathLst>
          </a:custGeom>
          <a:ln w="25400">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image1.png"/>
          <p:cNvPicPr/>
          <p:nvPr/>
        </p:nvPicPr>
        <p:blipFill>
          <a:blip r:embed="rId3"/>
          <a:stretch>
            <a:fillRect/>
          </a:stretch>
        </p:blipFill>
        <p:spPr>
          <a:xfrm>
            <a:off x="7848600" y="6311900"/>
            <a:ext cx="1117600" cy="393700"/>
          </a:xfrm>
          <a:prstGeom prst="rect">
            <a:avLst/>
          </a:prstGeom>
          <a:ln w="12700">
            <a:miter lim="400000"/>
          </a:ln>
        </p:spPr>
      </p:pic>
      <p:sp>
        <p:nvSpPr>
          <p:cNvPr id="138" name="Shape 138"/>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139" name="Shape 1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Trade-off sliders</a:t>
            </a:r>
          </a:p>
        </p:txBody>
      </p:sp>
      <p:graphicFrame>
        <p:nvGraphicFramePr>
          <p:cNvPr id="140" name="Table 140"/>
          <p:cNvGraphicFramePr/>
          <p:nvPr/>
        </p:nvGraphicFramePr>
        <p:xfrm>
          <a:off x="457200" y="1371600"/>
          <a:ext cx="8229600" cy="2660750"/>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The classic four</a:t>
                      </a:r>
                    </a:p>
                  </a:txBody>
                  <a:tcPr marL="38100" marR="38100" marT="38100" marB="38100" anchor="ctr" horzOverflow="overflow"/>
                </a:tc>
                <a:extLst>
                  <a:ext uri="{0D108BD9-81ED-4DB2-BD59-A6C34878D82A}">
                    <a16:rowId xmlns:a16="http://schemas.microsoft.com/office/drawing/2014/main" val="10000"/>
                  </a:ext>
                </a:extLst>
              </a:tr>
              <a:tr h="612775">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Feature completeness (scope)</a:t>
                      </a:r>
                    </a:p>
                  </a:txBody>
                  <a:tcPr marL="88900" marR="88900" marT="88900" marB="88900" anchor="ctr" horzOverflow="overflow"/>
                </a:tc>
                <a:extLst>
                  <a:ext uri="{0D108BD9-81ED-4DB2-BD59-A6C34878D82A}">
                    <a16:rowId xmlns:a16="http://schemas.microsoft.com/office/drawing/2014/main" val="10001"/>
                  </a:ext>
                </a:extLst>
              </a:tr>
              <a:tr h="520700">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Stay within budget (budget)</a:t>
                      </a:r>
                    </a:p>
                  </a:txBody>
                  <a:tcPr marL="38100" marR="38100" marT="38100" marB="38100" anchor="ctr" horzOverflow="overflow"/>
                </a:tc>
                <a:extLst>
                  <a:ext uri="{0D108BD9-81ED-4DB2-BD59-A6C34878D82A}">
                    <a16:rowId xmlns:a16="http://schemas.microsoft.com/office/drawing/2014/main" val="10002"/>
                  </a:ext>
                </a:extLst>
              </a:tr>
              <a:tr h="58239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Deliver project on time (time)</a:t>
                      </a:r>
                    </a:p>
                  </a:txBody>
                  <a:tcPr marL="38100" marR="38100" marT="38100" marB="38100" anchor="ctr" horzOverflow="overflow"/>
                </a:tc>
                <a:extLst>
                  <a:ext uri="{0D108BD9-81ED-4DB2-BD59-A6C34878D82A}">
                    <a16:rowId xmlns:a16="http://schemas.microsoft.com/office/drawing/2014/main" val="10003"/>
                  </a:ext>
                </a:extLst>
              </a:tr>
              <a:tr h="37782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High quality, low defects (quality)</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47" name="Group 147"/>
          <p:cNvGrpSpPr/>
          <p:nvPr/>
        </p:nvGrpSpPr>
        <p:grpSpPr>
          <a:xfrm>
            <a:off x="654084" y="1922463"/>
            <a:ext cx="2518554" cy="274638"/>
            <a:chOff x="-84832" y="0"/>
            <a:chExt cx="2518552" cy="274637"/>
          </a:xfrm>
        </p:grpSpPr>
        <p:sp>
          <p:nvSpPr>
            <p:cNvPr id="141" name="Shape 141"/>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42" name="Shape 14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3" name="Shape 143"/>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44" name="Shape 14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5" name="Shape 14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6" name="Shape 14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aphicFrame>
        <p:nvGraphicFramePr>
          <p:cNvPr id="148" name="Table 148"/>
          <p:cNvGraphicFramePr/>
          <p:nvPr/>
        </p:nvGraphicFramePr>
        <p:xfrm>
          <a:off x="457200" y="4157879"/>
          <a:ext cx="8229600" cy="2632174"/>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Other important things</a:t>
                      </a:r>
                    </a:p>
                  </a:txBody>
                  <a:tcPr marL="38100" marR="38100" marT="38100" marB="38100" anchor="ctr" horzOverflow="overflow"/>
                </a:tc>
                <a:extLst>
                  <a:ext uri="{0D108BD9-81ED-4DB2-BD59-A6C34878D82A}">
                    <a16:rowId xmlns:a16="http://schemas.microsoft.com/office/drawing/2014/main" val="10000"/>
                  </a:ext>
                </a:extLst>
              </a:tr>
              <a:tr h="508000">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Ease of use</a:t>
                      </a:r>
                    </a:p>
                  </a:txBody>
                  <a:tcPr marL="88900" marR="88900" marT="88900" marB="88900" anchor="ctr" horzOverflow="overflow"/>
                </a:tc>
                <a:extLst>
                  <a:ext uri="{0D108BD9-81ED-4DB2-BD59-A6C34878D82A}">
                    <a16:rowId xmlns:a16="http://schemas.microsoft.com/office/drawing/2014/main" val="10001"/>
                  </a:ext>
                </a:extLst>
              </a:tr>
              <a:tr h="569695">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Don’t make me think!</a:t>
                      </a:r>
                    </a:p>
                  </a:txBody>
                  <a:tcPr marL="38100" marR="38100" marT="38100" marB="38100" anchor="ctr" horzOverflow="overflow"/>
                </a:tc>
                <a:extLst>
                  <a:ext uri="{0D108BD9-81ED-4DB2-BD59-A6C34878D82A}">
                    <a16:rowId xmlns:a16="http://schemas.microsoft.com/office/drawing/2014/main" val="10002"/>
                  </a:ext>
                </a:extLst>
              </a:tr>
              <a:tr h="469900">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Detailed audits (log everything)</a:t>
                      </a:r>
                    </a:p>
                  </a:txBody>
                  <a:tcPr marL="38100" marR="38100" marT="38100" marB="38100" anchor="ctr" horzOverflow="overflow"/>
                </a:tc>
                <a:extLst>
                  <a:ext uri="{0D108BD9-81ED-4DB2-BD59-A6C34878D82A}">
                    <a16:rowId xmlns:a16="http://schemas.microsoft.com/office/drawing/2014/main" val="10003"/>
                  </a:ext>
                </a:extLst>
              </a:tr>
              <a:tr h="546099">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&lt;insert yours&gt;</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55" name="Group 155"/>
          <p:cNvGrpSpPr/>
          <p:nvPr/>
        </p:nvGrpSpPr>
        <p:grpSpPr>
          <a:xfrm>
            <a:off x="654084" y="2501900"/>
            <a:ext cx="2518554" cy="274637"/>
            <a:chOff x="-84832" y="0"/>
            <a:chExt cx="2518552" cy="274636"/>
          </a:xfrm>
        </p:grpSpPr>
        <p:sp>
          <p:nvSpPr>
            <p:cNvPr id="149" name="Shape 149"/>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0" name="Shape 150"/>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1" name="Shape 151"/>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2" name="Shape 152"/>
            <p:cNvSpPr/>
            <p:nvPr/>
          </p:nvSpPr>
          <p:spPr>
            <a:xfrm>
              <a:off x="121051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3" name="Shape 153"/>
            <p:cNvSpPr/>
            <p:nvPr/>
          </p:nvSpPr>
          <p:spPr>
            <a:xfrm>
              <a:off x="85868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4" name="Shape 154"/>
            <p:cNvSpPr/>
            <p:nvPr/>
          </p:nvSpPr>
          <p:spPr>
            <a:xfrm>
              <a:off x="1562341"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2" name="Group 162"/>
          <p:cNvGrpSpPr/>
          <p:nvPr/>
        </p:nvGrpSpPr>
        <p:grpSpPr>
          <a:xfrm>
            <a:off x="654084" y="3048000"/>
            <a:ext cx="2518554" cy="274638"/>
            <a:chOff x="-84832" y="0"/>
            <a:chExt cx="2518552" cy="274637"/>
          </a:xfrm>
        </p:grpSpPr>
        <p:sp>
          <p:nvSpPr>
            <p:cNvPr id="156" name="Shape 156"/>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7" name="Shape 157"/>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8" name="Shape 158"/>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9" name="Shape 159"/>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0" name="Shape 160"/>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1" name="Shape 161"/>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9" name="Group 169"/>
          <p:cNvGrpSpPr/>
          <p:nvPr/>
        </p:nvGrpSpPr>
        <p:grpSpPr>
          <a:xfrm>
            <a:off x="654084" y="3505200"/>
            <a:ext cx="2518554" cy="274638"/>
            <a:chOff x="-84832" y="0"/>
            <a:chExt cx="2518552" cy="274637"/>
          </a:xfrm>
        </p:grpSpPr>
        <p:sp>
          <p:nvSpPr>
            <p:cNvPr id="163" name="Shape 163"/>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64" name="Shape 164"/>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5" name="Shape 165"/>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66" name="Shape 166"/>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7" name="Shape 167"/>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8" name="Shape 168"/>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76" name="Group 176"/>
          <p:cNvGrpSpPr/>
          <p:nvPr/>
        </p:nvGrpSpPr>
        <p:grpSpPr>
          <a:xfrm>
            <a:off x="654084" y="4657725"/>
            <a:ext cx="2518554" cy="274638"/>
            <a:chOff x="-84832" y="0"/>
            <a:chExt cx="2518552" cy="274637"/>
          </a:xfrm>
        </p:grpSpPr>
        <p:sp>
          <p:nvSpPr>
            <p:cNvPr id="170" name="Shape 170"/>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1" name="Shape 171"/>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2" name="Shape 172"/>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73" name="Shape 173"/>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4" name="Shape 174"/>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5" name="Shape 175"/>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83" name="Group 183"/>
          <p:cNvGrpSpPr/>
          <p:nvPr/>
        </p:nvGrpSpPr>
        <p:grpSpPr>
          <a:xfrm>
            <a:off x="654084" y="5122862"/>
            <a:ext cx="2518554" cy="274638"/>
            <a:chOff x="-84832" y="0"/>
            <a:chExt cx="2518552" cy="274637"/>
          </a:xfrm>
        </p:grpSpPr>
        <p:sp>
          <p:nvSpPr>
            <p:cNvPr id="177" name="Shape 177"/>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8" name="Shape 178"/>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9" name="Shape 179"/>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0" name="Shape 180"/>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1" name="Shape 181"/>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2" name="Shape 182"/>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0" name="Group 190"/>
          <p:cNvGrpSpPr/>
          <p:nvPr/>
        </p:nvGrpSpPr>
        <p:grpSpPr>
          <a:xfrm>
            <a:off x="654084" y="5618162"/>
            <a:ext cx="2518554" cy="274638"/>
            <a:chOff x="-84832" y="0"/>
            <a:chExt cx="2518552" cy="274637"/>
          </a:xfrm>
        </p:grpSpPr>
        <p:sp>
          <p:nvSpPr>
            <p:cNvPr id="184" name="Shape 184"/>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85" name="Shape 185"/>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6" name="Shape 186"/>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7" name="Shape 187"/>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8" name="Shape 188"/>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9" name="Shape 189"/>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7" name="Group 197"/>
          <p:cNvGrpSpPr/>
          <p:nvPr/>
        </p:nvGrpSpPr>
        <p:grpSpPr>
          <a:xfrm>
            <a:off x="654084" y="6202362"/>
            <a:ext cx="2518554" cy="274638"/>
            <a:chOff x="-84832" y="0"/>
            <a:chExt cx="2518552" cy="274637"/>
          </a:xfrm>
        </p:grpSpPr>
        <p:sp>
          <p:nvSpPr>
            <p:cNvPr id="191" name="Shape 191"/>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92" name="Shape 19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3" name="Shape 193"/>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94" name="Shape 19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5" name="Shape 19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6" name="Shape 19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sp>
        <p:nvSpPr>
          <p:cNvPr id="198" name="Shape 198"/>
          <p:cNvSpPr/>
          <p:nvPr/>
        </p:nvSpPr>
        <p:spPr>
          <a:xfrm>
            <a:off x="2362200" y="18160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99" name="Shape 199"/>
          <p:cNvSpPr/>
          <p:nvPr/>
        </p:nvSpPr>
        <p:spPr>
          <a:xfrm>
            <a:off x="1219200" y="2412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0" name="Shape 200"/>
          <p:cNvSpPr/>
          <p:nvPr/>
        </p:nvSpPr>
        <p:spPr>
          <a:xfrm>
            <a:off x="1828800" y="28955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1" name="Shape 201"/>
          <p:cNvSpPr/>
          <p:nvPr/>
        </p:nvSpPr>
        <p:spPr>
          <a:xfrm>
            <a:off x="1447800" y="3428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2" name="Shape 202"/>
          <p:cNvSpPr/>
          <p:nvPr/>
        </p:nvSpPr>
        <p:spPr>
          <a:xfrm>
            <a:off x="1295400" y="4648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3" name="Shape 203"/>
          <p:cNvSpPr/>
          <p:nvPr/>
        </p:nvSpPr>
        <p:spPr>
          <a:xfrm>
            <a:off x="2057400" y="5029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4" name="Shape 204"/>
          <p:cNvSpPr/>
          <p:nvPr/>
        </p:nvSpPr>
        <p:spPr>
          <a:xfrm>
            <a:off x="1600200" y="55117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5" name="Shape 205"/>
          <p:cNvSpPr/>
          <p:nvPr/>
        </p:nvSpPr>
        <p:spPr>
          <a:xfrm>
            <a:off x="2209800" y="6095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image1.png"/>
          <p:cNvPicPr/>
          <p:nvPr/>
        </p:nvPicPr>
        <p:blipFill>
          <a:blip r:embed="rId3"/>
          <a:stretch>
            <a:fillRect/>
          </a:stretch>
        </p:blipFill>
        <p:spPr>
          <a:xfrm>
            <a:off x="7848600" y="6311900"/>
            <a:ext cx="1117600" cy="393700"/>
          </a:xfrm>
          <a:prstGeom prst="rect">
            <a:avLst/>
          </a:prstGeom>
          <a:ln w="12700">
            <a:miter lim="400000"/>
          </a:ln>
        </p:spPr>
      </p:pic>
      <p:sp>
        <p:nvSpPr>
          <p:cNvPr id="210" name="Shape 21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first release</a:t>
            </a:r>
          </a:p>
        </p:txBody>
      </p:sp>
      <p:sp>
        <p:nvSpPr>
          <p:cNvPr id="211" name="Shape 211"/>
          <p:cNvSpPr/>
          <p:nvPr/>
        </p:nvSpPr>
        <p:spPr>
          <a:xfrm>
            <a:off x="1438275" y="32766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2" name="Shape 212"/>
          <p:cNvSpPr/>
          <p:nvPr/>
        </p:nvSpPr>
        <p:spPr>
          <a:xfrm rot="5400000">
            <a:off x="32670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3" name="Shape 213"/>
          <p:cNvSpPr/>
          <p:nvPr/>
        </p:nvSpPr>
        <p:spPr>
          <a:xfrm rot="5400000">
            <a:off x="52482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4" name="Shape 214"/>
          <p:cNvSpPr/>
          <p:nvPr/>
        </p:nvSpPr>
        <p:spPr>
          <a:xfrm rot="5400000">
            <a:off x="7229475"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5" name="Shape 215"/>
          <p:cNvSpPr/>
          <p:nvPr/>
        </p:nvSpPr>
        <p:spPr>
          <a:xfrm>
            <a:off x="6848475" y="1828800"/>
            <a:ext cx="1928913" cy="6731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216" name="Shape 216"/>
          <p:cNvSpPr/>
          <p:nvPr/>
        </p:nvSpPr>
        <p:spPr>
          <a:xfrm>
            <a:off x="1438275" y="2667000"/>
            <a:ext cx="2294038"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217" name="Shape 217"/>
          <p:cNvSpPr/>
          <p:nvPr/>
        </p:nvSpPr>
        <p:spPr>
          <a:xfrm>
            <a:off x="4257030" y="2667000"/>
            <a:ext cx="76832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218" name="Shape 218"/>
          <p:cNvSpPr/>
          <p:nvPr/>
        </p:nvSpPr>
        <p:spPr>
          <a:xfrm>
            <a:off x="6010275" y="2677179"/>
            <a:ext cx="150453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219" name="Shape 219"/>
          <p:cNvSpPr/>
          <p:nvPr/>
        </p:nvSpPr>
        <p:spPr>
          <a:xfrm>
            <a:off x="1819275" y="3352800"/>
            <a:ext cx="182783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220" name="Shape 220"/>
          <p:cNvSpPr/>
          <p:nvPr/>
        </p:nvSpPr>
        <p:spPr>
          <a:xfrm>
            <a:off x="4144974" y="3352800"/>
            <a:ext cx="101783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221" name="Shape 221"/>
          <p:cNvSpPr/>
          <p:nvPr/>
        </p:nvSpPr>
        <p:spPr>
          <a:xfrm>
            <a:off x="6126175" y="3352800"/>
            <a:ext cx="101783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pic>
        <p:nvPicPr>
          <p:cNvPr id="222" name="image10.png"/>
          <p:cNvPicPr/>
          <p:nvPr/>
        </p:nvPicPr>
        <p:blipFill>
          <a:blip r:embed="rId4"/>
          <a:stretch>
            <a:fillRect/>
          </a:stretch>
        </p:blipFill>
        <p:spPr>
          <a:xfrm>
            <a:off x="228600" y="3200400"/>
            <a:ext cx="1057276" cy="800100"/>
          </a:xfrm>
          <a:prstGeom prst="rect">
            <a:avLst/>
          </a:prstGeom>
          <a:ln w="12700">
            <a:round/>
          </a:ln>
        </p:spPr>
      </p:pic>
      <p:sp>
        <p:nvSpPr>
          <p:cNvPr id="223" name="Shape 223"/>
          <p:cNvSpPr/>
          <p:nvPr/>
        </p:nvSpPr>
        <p:spPr>
          <a:xfrm>
            <a:off x="1383189" y="4114800"/>
            <a:ext cx="7807376" cy="6731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3 people, 3 ½ months, $250K</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 name="image1.png"/>
          <p:cNvPicPr/>
          <p:nvPr/>
        </p:nvPicPr>
        <p:blipFill>
          <a:blip r:embed="rId3"/>
          <a:stretch>
            <a:fillRect/>
          </a:stretch>
        </p:blipFill>
        <p:spPr>
          <a:xfrm>
            <a:off x="7848600" y="6311900"/>
            <a:ext cx="1117600" cy="393700"/>
          </a:xfrm>
          <a:prstGeom prst="rect">
            <a:avLst/>
          </a:prstGeom>
          <a:ln w="12700">
            <a:miter lim="400000"/>
          </a:ln>
        </p:spPr>
      </p:pic>
      <p:sp>
        <p:nvSpPr>
          <p:cNvPr id="228" name="Shape 22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Learn more</a:t>
            </a:r>
          </a:p>
        </p:txBody>
      </p:sp>
      <p:sp>
        <p:nvSpPr>
          <p:cNvPr id="229" name="Shape 229"/>
          <p:cNvSpPr>
            <a:spLocks noGrp="1"/>
          </p:cNvSpPr>
          <p:nvPr>
            <p:ph type="body" idx="1"/>
          </p:nvPr>
        </p:nvSpPr>
        <p:spPr>
          <a:prstGeom prst="rect">
            <a:avLst/>
          </a:prstGeom>
        </p:spPr>
        <p:txBody>
          <a:bodyPr/>
          <a:lstStyle/>
          <a:p>
            <a:pPr lvl="0">
              <a:defRPr sz="1800">
                <a:uFillTx/>
              </a:defRPr>
            </a:pPr>
            <a:r>
              <a:rPr sz="3200">
                <a:solidFill>
                  <a:srgbClr val="0433FF"/>
                </a:solidFill>
                <a:uFill>
                  <a:solidFill>
                    <a:srgbClr val="0433FF"/>
                  </a:solidFill>
                </a:uFill>
                <a:hlinkClick r:id="rId4"/>
              </a:rPr>
              <a:t>http://agilewarrior.wordpress.com</a:t>
            </a:r>
            <a:endParaRPr sz="3200">
              <a:uFill>
                <a:solidFill/>
              </a:uFill>
            </a:endParaRPr>
          </a:p>
          <a:p>
            <a:pPr lvl="0">
              <a:defRPr sz="1800">
                <a:uFillTx/>
              </a:defRPr>
            </a:pPr>
            <a:r>
              <a:rPr sz="3200">
                <a:uFill>
                  <a:solidFill/>
                </a:uFill>
              </a:rPr>
              <a:t>Buy the book!</a:t>
            </a:r>
          </a:p>
          <a:p>
            <a:pPr lvl="0">
              <a:defRPr sz="1800">
                <a:uFillTx/>
              </a:defRPr>
            </a:pPr>
            <a:endParaRPr sz="3200">
              <a:uFill>
                <a:solidFill/>
              </a:uFill>
            </a:endParaRPr>
          </a:p>
          <a:p>
            <a:pPr lvl="0">
              <a:defRPr sz="1800">
                <a:uFillTx/>
              </a:defRPr>
            </a:pPr>
            <a:r>
              <a:rPr sz="3200">
                <a:uFill>
                  <a:solidFill/>
                </a:uFill>
              </a:rPr>
              <a:t>Twitter:</a:t>
            </a:r>
          </a:p>
          <a:p>
            <a:pPr lvl="1">
              <a:defRPr sz="1800">
                <a:uFillTx/>
              </a:defRPr>
            </a:pPr>
            <a:r>
              <a:rPr sz="2800">
                <a:uFill>
                  <a:solidFill/>
                </a:uFill>
              </a:rPr>
              <a:t>@jrasmusson</a:t>
            </a:r>
          </a:p>
        </p:txBody>
      </p:sp>
      <p:pic>
        <p:nvPicPr>
          <p:cNvPr id="230" name="image11.png"/>
          <p:cNvPicPr/>
          <p:nvPr/>
        </p:nvPicPr>
        <p:blipFill>
          <a:blip r:embed="rId5"/>
          <a:stretch>
            <a:fillRect/>
          </a:stretch>
        </p:blipFill>
        <p:spPr>
          <a:xfrm>
            <a:off x="4343400" y="2451100"/>
            <a:ext cx="2946400" cy="3797300"/>
          </a:xfrm>
          <a:prstGeom prst="rect">
            <a:avLst/>
          </a:prstGeom>
          <a:ln w="12700">
            <a:miter lim="400000"/>
          </a:ln>
        </p:spPr>
      </p:pic>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bdf0210-c3da-4742-937b-a76137b3c2db" xsi:nil="true"/>
    <lcf76f155ced4ddcb4097134ff3c332f xmlns="3841ccf6-7016-4b68-8fa5-4cded6f59fe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E0FF251FD726347B3A335102E647FBD" ma:contentTypeVersion="11" ma:contentTypeDescription="Crear nuevo documento." ma:contentTypeScope="" ma:versionID="f974bda35364145575816681b21cd9e4">
  <xsd:schema xmlns:xsd="http://www.w3.org/2001/XMLSchema" xmlns:xs="http://www.w3.org/2001/XMLSchema" xmlns:p="http://schemas.microsoft.com/office/2006/metadata/properties" xmlns:ns2="3841ccf6-7016-4b68-8fa5-4cded6f59fed" xmlns:ns3="fbdf0210-c3da-4742-937b-a76137b3c2db" targetNamespace="http://schemas.microsoft.com/office/2006/metadata/properties" ma:root="true" ma:fieldsID="909e9f6a3c28b5b01a9bbfaf85d11c43" ns2:_="" ns3:_="">
    <xsd:import namespace="3841ccf6-7016-4b68-8fa5-4cded6f59fed"/>
    <xsd:import namespace="fbdf0210-c3da-4742-937b-a76137b3c2d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cf6-7016-4b68-8fa5-4cded6f5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6d0957fa-4258-4c19-a4f0-c7eb38e0bac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df0210-c3da-4742-937b-a76137b3c2d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512e8d6-f3fa-4bb8-85ad-c965f4567ff2}" ma:internalName="TaxCatchAll" ma:showField="CatchAllData" ma:web="fbdf0210-c3da-4742-937b-a76137b3c2d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69F3AD-D2F8-4681-9D68-3414F68D6447}">
  <ds:schemaRefs>
    <ds:schemaRef ds:uri="http://schemas.microsoft.com/sharepoint/v3/contenttype/forms"/>
  </ds:schemaRefs>
</ds:datastoreItem>
</file>

<file path=customXml/itemProps2.xml><?xml version="1.0" encoding="utf-8"?>
<ds:datastoreItem xmlns:ds="http://schemas.openxmlformats.org/officeDocument/2006/customXml" ds:itemID="{F8BCF7A3-3706-45E5-BF07-D843D924F5B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12DC9C9-1731-4E5F-A1A3-7F8F128A2B88}"/>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14</Slides>
  <Notes>12</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White</vt:lpstr>
      <vt:lpstr>The Agile Inception Deck </vt:lpstr>
      <vt:lpstr>Expediente de Veterinaria OpenPaw</vt:lpstr>
      <vt:lpstr>Why are we here?</vt:lpstr>
      <vt:lpstr>The elevator pitch</vt:lpstr>
      <vt:lpstr>Product box</vt:lpstr>
      <vt:lpstr>The NOT list</vt:lpstr>
      <vt:lpstr>Tu comunidad del proyecto</vt:lpstr>
      <vt:lpstr>Technical solution</vt:lpstr>
      <vt:lpstr>What keeps us up at night</vt:lpstr>
      <vt:lpstr>The A-Team</vt:lpstr>
      <vt:lpstr>How big is this thing?</vt:lpstr>
      <vt:lpstr>Trade-off sliders</vt:lpstr>
      <vt:lpstr>The first release</vt:lpstr>
      <vt:lpstr>Learn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Agile Inception Deck </dc:title>
  <cp:revision>4</cp:revision>
  <dcterms:modified xsi:type="dcterms:W3CDTF">2026-06-09T00:36:59Z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0x0101006E0FF251FD726347B3A335102E647FBD</vt:lpwstr>
  </property>
</Properties>
</file>